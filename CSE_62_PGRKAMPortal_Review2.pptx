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69" r:id="rId4"/>
    <p:sldId id="279" r:id="rId5"/>
    <p:sldId id="276" r:id="rId6"/>
    <p:sldId id="280" r:id="rId7"/>
    <p:sldId id="281" r:id="rId8"/>
    <p:sldId id="282" r:id="rId9"/>
    <p:sldId id="283" r:id="rId10"/>
    <p:sldId id="284" r:id="rId11"/>
    <p:sldId id="278" r:id="rId12"/>
    <p:sldId id="273" r:id="rId13"/>
    <p:sldId id="268" r:id="rId14"/>
    <p:sldId id="285" r:id="rId15"/>
    <p:sldId id="286" r:id="rId16"/>
    <p:sldId id="272" r:id="rId17"/>
    <p:sldId id="271" r:id="rId18"/>
    <p:sldId id="270" r:id="rId19"/>
    <p:sldId id="265" r:id="rId20"/>
    <p:sldId id="275"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6" d="100"/>
          <a:sy n="56" d="100"/>
        </p:scale>
        <p:origin x="1044"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CB4B31-5E3B-3183-ACB7-A6A4A1F27BA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C6D3B180-58A4-9A2D-D347-A87163D0BC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BC854E89-10FD-FF76-31C6-33294E6878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723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A1582D9-03E4-70F6-22B7-845CB1DC661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2FEED1D2-1C56-7437-9D09-82CA5FD658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78B2B5D-2715-9D0D-EA5D-E5BBFF4D66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267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B366B81-E5B4-458A-CC50-F4D3951FB35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04C326D-9CFC-97DA-AA11-DCEFDC28E2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382FBEE-3809-EDC2-5F21-AEFD5CB39A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3877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27F7606-8FD7-58B1-E632-D50AF427C2C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83ED67D-9FA6-53E3-C119-4013618A1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3EB9E72-A316-C330-AEDE-7B1DBA0DC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600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EAF2352-AC21-5B13-7EE1-F5808505CF0C}"/>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BC9795F-6872-6718-1829-7E35441BA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FE13FD2-9677-6437-6A38-8B6FC216B2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81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EB6A838-F61F-4E21-160B-7FDEB91448F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D628CE4-790A-6BFA-7939-CCE173865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FC3BED8C-D68B-5A6D-A588-B9BBC507D9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8763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A4F1540-FE72-CA8E-230D-4ABE9640110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6BAB4506-446A-B005-6203-F4783D465A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FA250B1-7F34-1C6D-B5EF-572F93C511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8480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8C58756-D183-91C2-A49B-779F17B8C5E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FE76311-A2B7-D795-1B02-4B7A5645A5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BB2CFA8-F5FE-84C8-A45E-D6841648B1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363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roceedings.neurips.cc/paper/2020/file/1457c0d6bfcb4967418bfb8ac142f64a-Paper.pdf?utm_source=chatgpt.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engineering.linkedin.com/blog/2017/05/ai-powered-job-recommendations" TargetMode="External"/><Relationship Id="rId4" Type="http://schemas.openxmlformats.org/officeDocument/2006/relationships/hyperlink" Target="https://arxiv.org/abs/1704.04579?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I4Bharat/IndicS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ijrte.org/wp-content/uploads/papers/v9i1/A4886059121.pdf" TargetMode="External"/><Relationship Id="rId5" Type="http://schemas.openxmlformats.org/officeDocument/2006/relationships/hyperlink" Target="https://arxiv.org/abs/2303.13348" TargetMode="External"/><Relationship Id="rId4" Type="http://schemas.openxmlformats.org/officeDocument/2006/relationships/hyperlink" Target="https://arxiv.org/abs/2401.00386"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researchgate.net/publication/361731581_AI_Chatbots_in_Recruitmen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dl.acm.org/doi/10.1145/3373625.3418306" TargetMode="External"/><Relationship Id="rId4" Type="http://schemas.openxmlformats.org/officeDocument/2006/relationships/hyperlink" Target="https://ijrpr.com/uploads/V2ISSUE3/IJRPR237.pdf"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roceedings.neurips.cc/paper/2020/file/1457c0d6bfcb4967418bfb8ac142f64a-Paper.pdfhttps:/www.mdpi.com/1424-8220/21/24/8448https:/proceedings.neurips.cc/paper/2020/file/1457c0d6bfcb4967418bfb8ac142f64a-Paper.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www.mdpi.com/1424-8220/21/24/8448"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ACCESS.2022.3201144" TargetMode="External"/><Relationship Id="rId2" Type="http://schemas.openxmlformats.org/officeDocument/2006/relationships/hyperlink" Target="file:///C:\Users\V%20BALAJI\Downloads\%20https\doi.org\10.1109\ACCESS.2022.3201144" TargetMode="External"/><Relationship Id="rId1" Type="http://schemas.openxmlformats.org/officeDocument/2006/relationships/slideLayout" Target="../slideLayouts/slideLayout2.xml"/><Relationship Id="rId5" Type="http://schemas.openxmlformats.org/officeDocument/2006/relationships/hyperlink" Target="https://arxiv.org/abs/1809.08267" TargetMode="External"/><Relationship Id="rId4" Type="http://schemas.openxmlformats.org/officeDocument/2006/relationships/hyperlink" Target="https://arxiv.org/abs/1704.04579"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SMART NAVIGATION ASSISTANT FOR PGRKAM PORTAL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a:t>
            </a:r>
            <a:r>
              <a:rPr lang="en-IN" sz="1800" dirty="0">
                <a:latin typeface="Cambria" panose="02040503050406030204" pitchFamily="18" charset="0"/>
                <a:ea typeface="Cambria" panose="02040503050406030204" pitchFamily="18" charset="0"/>
              </a:rPr>
              <a:t>CSE_62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94713" y="2513340"/>
            <a:ext cx="5299781"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lgn="ctr">
              <a:spcBef>
                <a:spcPts val="400"/>
              </a:spcBef>
              <a:buClr>
                <a:srgbClr val="17365D"/>
              </a:buClr>
              <a:buSzPts val="2000"/>
            </a:pPr>
            <a:r>
              <a:rPr lang="en-IN" sz="2000" b="1" dirty="0"/>
              <a:t>Ms. Rama Bai V</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252344070"/>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t>20221CSE0727</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V BALAJI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t>20221CSE0698</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NITHIN REDDY</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t>20221CSE0720</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SHREYA A</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Jayavadivel Ravi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55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 </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Existing methods and drawbacks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Proposed methods and feasibility</a:t>
            </a:r>
          </a:p>
          <a:p>
            <a:pPr marL="495300" lvl="0" indent="-342900" algn="just">
              <a:lnSpc>
                <a:spcPct val="200000"/>
              </a:lnSpc>
              <a:spcBef>
                <a:spcPts val="0"/>
              </a:spcBef>
              <a:buFont typeface="Arial" panose="020B0604020202020204" pitchFamily="34" charset="0"/>
              <a:buChar char="•"/>
            </a:pPr>
            <a:r>
              <a:rPr lang="en-US" sz="2200" dirty="0">
                <a:latin typeface="Cambria" panose="02040503050406030204" pitchFamily="18" charset="0"/>
                <a:ea typeface="Cambria" panose="02040503050406030204" pitchFamily="18" charset="0"/>
              </a:rPr>
              <a:t>Architecture Diagram</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Module Description</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Software Requirements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Timeline(Gantt Chart)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40509" y="283874"/>
            <a:ext cx="10704946"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Number:17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54182" y="1006764"/>
            <a:ext cx="11185236" cy="5467927"/>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9600" dirty="0">
                <a:latin typeface="Cambria" panose="02040503050406030204" pitchFamily="18" charset="0"/>
                <a:ea typeface="Cambria" panose="02040503050406030204" pitchFamily="18" charset="0"/>
              </a:rPr>
              <a:t>Organization: Department of Employment ,Government of Punjab</a:t>
            </a:r>
          </a:p>
          <a:p>
            <a:pPr marL="342900" lvl="0" indent="-190500" algn="just">
              <a:lnSpc>
                <a:spcPct val="200000"/>
              </a:lnSpc>
              <a:spcBef>
                <a:spcPts val="0"/>
              </a:spcBef>
              <a:buNone/>
            </a:pPr>
            <a:r>
              <a:rPr lang="en-US" sz="9600" dirty="0">
                <a:latin typeface="Cambria" panose="02040503050406030204" pitchFamily="18" charset="0"/>
                <a:ea typeface="Cambria" panose="02040503050406030204" pitchFamily="18" charset="0"/>
              </a:rPr>
              <a:t>Category :Software</a:t>
            </a:r>
          </a:p>
          <a:p>
            <a:pPr marL="342900" lvl="0" indent="-190500" algn="just">
              <a:lnSpc>
                <a:spcPct val="200000"/>
              </a:lnSpc>
              <a:spcBef>
                <a:spcPts val="0"/>
              </a:spcBef>
              <a:buNone/>
            </a:pPr>
            <a:r>
              <a:rPr lang="en-US" sz="9600" b="1" dirty="0">
                <a:latin typeface="Cambria" panose="02040503050406030204" pitchFamily="18" charset="0"/>
                <a:ea typeface="Cambria" panose="02040503050406030204" pitchFamily="18" charset="0"/>
              </a:rPr>
              <a:t>Problem Description:</a:t>
            </a:r>
          </a:p>
          <a:p>
            <a:pPr marL="342900" indent="-190500" algn="just">
              <a:lnSpc>
                <a:spcPct val="120000"/>
              </a:lnSpc>
              <a:spcBef>
                <a:spcPts val="0"/>
              </a:spcBef>
              <a:buNone/>
            </a:pPr>
            <a:r>
              <a:rPr lang="en-IN" sz="9600" dirty="0">
                <a:latin typeface="Cambria" panose="02040503050406030204" pitchFamily="18" charset="0"/>
                <a:ea typeface="Cambria" panose="02040503050406030204" pitchFamily="18" charset="0"/>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p>
          <a:p>
            <a:pPr marL="342900" lvl="0" indent="-190500" algn="just">
              <a:lnSpc>
                <a:spcPct val="200000"/>
              </a:lnSpc>
              <a:spcBef>
                <a:spcPts val="0"/>
              </a:spcBef>
              <a:buNone/>
            </a:pPr>
            <a:endParaRPr lang="en-US" sz="96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E180E07-B26A-DD8D-079E-A91B81FA048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4782F5B-BF96-8CD2-BFBA-946CFFBEB1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Abstract</a:t>
            </a:r>
          </a:p>
        </p:txBody>
      </p:sp>
      <p:sp>
        <p:nvSpPr>
          <p:cNvPr id="115" name="Google Shape;115;p17">
            <a:extLst>
              <a:ext uri="{FF2B5EF4-FFF2-40B4-BE49-F238E27FC236}">
                <a16:creationId xmlns:a16="http://schemas.microsoft.com/office/drawing/2014/main" id="{D8D77F27-8236-64D7-ED32-76355692C8D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7A036530-18D6-3E93-5E5F-FF398A124721}"/>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B70C13DC-90C1-0AC4-42C6-112E77AEF970}"/>
              </a:ext>
            </a:extLst>
          </p:cNvPr>
          <p:cNvSpPr txBox="1">
            <a:spLocks/>
          </p:cNvSpPr>
          <p:nvPr/>
        </p:nvSpPr>
        <p:spPr>
          <a:xfrm>
            <a:off x="355600" y="1838373"/>
            <a:ext cx="11125200" cy="26882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dirty="0">
                <a:solidFill>
                  <a:schemeClr val="tx1"/>
                </a:solidFill>
                <a:latin typeface="Cambria" panose="02040503050406030204" pitchFamily="18" charset="0"/>
                <a:ea typeface="Cambria" panose="02040503050406030204" pitchFamily="18" charset="0"/>
              </a:rPr>
              <a:t>        This project presents a basic prototype of an intelligent chatbot integrated into the employment portal www.pgrkam.com and its mobile app. The chatbot aims to provide a user-friendly, guided experience, helping users navigate the platform efficiently and find relevant services or information quickly.</a:t>
            </a:r>
          </a:p>
        </p:txBody>
      </p:sp>
    </p:spTree>
    <p:extLst>
      <p:ext uri="{BB962C8B-B14F-4D97-AF65-F5344CB8AC3E}">
        <p14:creationId xmlns:p14="http://schemas.microsoft.com/office/powerpoint/2010/main" val="2222790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1DA7-CFA0-31F8-E3FE-71B0264DE714}"/>
              </a:ext>
            </a:extLst>
          </p:cNvPr>
          <p:cNvSpPr>
            <a:spLocks noGrp="1"/>
          </p:cNvSpPr>
          <p:nvPr>
            <p:ph type="title"/>
          </p:nvPr>
        </p:nvSpPr>
        <p:spPr>
          <a:xfrm>
            <a:off x="812799" y="147782"/>
            <a:ext cx="10455566" cy="711200"/>
          </a:xfrm>
        </p:spPr>
        <p:txBody>
          <a:bodyPr/>
          <a:lstStyle/>
          <a:p>
            <a:br>
              <a:rPr lang="en-IN" dirty="0"/>
            </a:br>
            <a:r>
              <a:rPr lang="en-IN" dirty="0">
                <a:latin typeface="Cambria" panose="02040503050406030204" pitchFamily="18" charset="0"/>
                <a:ea typeface="Cambria" panose="02040503050406030204" pitchFamily="18" charset="0"/>
              </a:rPr>
              <a:t>Objective</a:t>
            </a:r>
          </a:p>
        </p:txBody>
      </p:sp>
      <p:sp>
        <p:nvSpPr>
          <p:cNvPr id="3" name="Text Placeholder 2">
            <a:extLst>
              <a:ext uri="{FF2B5EF4-FFF2-40B4-BE49-F238E27FC236}">
                <a16:creationId xmlns:a16="http://schemas.microsoft.com/office/drawing/2014/main" id="{0D49F188-9227-FA4B-CDC5-D8547D18A402}"/>
              </a:ext>
            </a:extLst>
          </p:cNvPr>
          <p:cNvSpPr>
            <a:spLocks noGrp="1"/>
          </p:cNvSpPr>
          <p:nvPr>
            <p:ph type="body" idx="1"/>
          </p:nvPr>
        </p:nvSpPr>
        <p:spPr>
          <a:xfrm>
            <a:off x="812799" y="979054"/>
            <a:ext cx="10797309" cy="5315527"/>
          </a:xfrm>
        </p:spPr>
        <p:txBody>
          <a:bodyPr>
            <a:normAutofit/>
          </a:bodyPr>
          <a:lstStyle/>
          <a:p>
            <a:pPr lvl="0"/>
            <a:r>
              <a:rPr lang="en-IN" b="1" dirty="0">
                <a:latin typeface="Cambria" panose="02040503050406030204" pitchFamily="18" charset="0"/>
                <a:ea typeface="Cambria" panose="02040503050406030204" pitchFamily="18" charset="0"/>
              </a:rPr>
              <a:t>Develop a multilingual smart chatbot</a:t>
            </a:r>
            <a:r>
              <a:rPr lang="en-IN" dirty="0">
                <a:latin typeface="Cambria" panose="02040503050406030204" pitchFamily="18" charset="0"/>
                <a:ea typeface="Cambria" panose="02040503050406030204" pitchFamily="18" charset="0"/>
              </a:rPr>
              <a:t> leveraging Large Language Models (LLMs) such as GPT-3, to provide intelligent, context-aware assistance to users of the PGRKAM digital platform.</a:t>
            </a:r>
          </a:p>
          <a:p>
            <a:pPr lvl="0"/>
            <a:r>
              <a:rPr lang="en-IN" b="1" dirty="0">
                <a:latin typeface="Cambria" panose="02040503050406030204" pitchFamily="18" charset="0"/>
                <a:ea typeface="Cambria" panose="02040503050406030204" pitchFamily="18" charset="0"/>
              </a:rPr>
              <a:t>Enable both text and voice query handling</a:t>
            </a:r>
            <a:r>
              <a:rPr lang="en-IN" dirty="0">
                <a:latin typeface="Cambria" panose="02040503050406030204" pitchFamily="18" charset="0"/>
                <a:ea typeface="Cambria" panose="02040503050406030204" pitchFamily="18" charset="0"/>
              </a:rPr>
              <a:t> in Punjabi, Hindi, and English, with a focus on domains including job search, skill development, and foreign counseling.</a:t>
            </a:r>
          </a:p>
          <a:p>
            <a:pPr lvl="0"/>
            <a:r>
              <a:rPr lang="en-IN" b="1" dirty="0">
                <a:latin typeface="Cambria" panose="02040503050406030204" pitchFamily="18" charset="0"/>
                <a:ea typeface="Cambria" panose="02040503050406030204" pitchFamily="18" charset="0"/>
              </a:rPr>
              <a:t>Incorporate personalized job recommendations</a:t>
            </a:r>
            <a:r>
              <a:rPr lang="en-IN" dirty="0">
                <a:latin typeface="Cambria" panose="02040503050406030204" pitchFamily="18" charset="0"/>
                <a:ea typeface="Cambria" panose="02040503050406030204" pitchFamily="18" charset="0"/>
              </a:rPr>
              <a:t> by analyzing and utilizing each user’s historical interactions and stated preferences.</a:t>
            </a:r>
          </a:p>
          <a:p>
            <a:pPr lvl="0"/>
            <a:r>
              <a:rPr lang="en-IN" b="1" dirty="0">
                <a:latin typeface="Cambria" panose="02040503050406030204" pitchFamily="18" charset="0"/>
                <a:ea typeface="Cambria" panose="02040503050406030204" pitchFamily="18" charset="0"/>
              </a:rPr>
              <a:t>Enhance accessibility</a:t>
            </a:r>
            <a:r>
              <a:rPr lang="en-IN" dirty="0">
                <a:latin typeface="Cambria" panose="02040503050406030204" pitchFamily="18" charset="0"/>
                <a:ea typeface="Cambria" panose="02040503050406030204" pitchFamily="18" charset="0"/>
              </a:rPr>
              <a:t> through the integration of a multilingual screen-reading module to support visually impaired users.</a:t>
            </a:r>
          </a:p>
          <a:p>
            <a:pPr lvl="0"/>
            <a:r>
              <a:rPr lang="en-IN" b="1" dirty="0">
                <a:latin typeface="Cambria" panose="02040503050406030204" pitchFamily="18" charset="0"/>
                <a:ea typeface="Cambria" panose="02040503050406030204" pitchFamily="18" charset="0"/>
              </a:rPr>
              <a:t>Ensure cross-platform compatibility</a:t>
            </a:r>
            <a:r>
              <a:rPr lang="en-IN" dirty="0">
                <a:latin typeface="Cambria" panose="02040503050406030204" pitchFamily="18" charset="0"/>
                <a:ea typeface="Cambria" panose="02040503050406030204" pitchFamily="18" charset="0"/>
              </a:rPr>
              <a:t>, allowing users to chat, read, or listen to responses seamlessly on both smartphones and laptops, thereby reducing navigation time and effort.</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63496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4F7505D-783E-14AD-1D64-9AB3DEEC826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CA58EB85-F41F-D42D-2112-D9767BC5340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ECCEBE32-F210-F595-D727-CF26AD025D6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12A131D2-FB16-F4AB-09CB-75735BAECC28}"/>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5511810B-52CB-69D9-0674-99BD3192047D}"/>
              </a:ext>
            </a:extLst>
          </p:cNvPr>
          <p:cNvSpPr txBox="1">
            <a:spLocks/>
          </p:cNvSpPr>
          <p:nvPr/>
        </p:nvSpPr>
        <p:spPr>
          <a:xfrm>
            <a:off x="442686" y="1240971"/>
            <a:ext cx="11125200" cy="4952999"/>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b="1" dirty="0">
                <a:latin typeface="Cambria" panose="02040503050406030204" pitchFamily="18" charset="0"/>
                <a:ea typeface="Cambria" panose="02040503050406030204" pitchFamily="18" charset="0"/>
              </a:rPr>
              <a:t>Brown et al. (2020)</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Language Models are Few-Shot Learners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3"/>
              </a:rPr>
              <a:t>Paper Link</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Introduces GPT-3, shows large LLMs can perform diverse NLP tasks with few shot learning.</a:t>
            </a:r>
          </a:p>
          <a:p>
            <a:r>
              <a:rPr lang="en-IN" b="1" dirty="0">
                <a:latin typeface="Cambria" panose="02040503050406030204" pitchFamily="18" charset="0"/>
                <a:ea typeface="Cambria" panose="02040503050406030204" pitchFamily="18" charset="0"/>
              </a:rPr>
              <a:t>Radziwill &amp; Benton (2017)</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Evaluating Quality of Chatbots and Intelligent Conversational Agents</a:t>
            </a:r>
            <a:br>
              <a:rPr lang="en-IN" dirty="0">
                <a:latin typeface="Cambria" panose="02040503050406030204" pitchFamily="18" charset="0"/>
                <a:ea typeface="Cambria" panose="02040503050406030204" pitchFamily="18" charset="0"/>
              </a:rPr>
            </a:br>
            <a:r>
              <a:rPr lang="en-IN" dirty="0" err="1">
                <a:latin typeface="Cambria" panose="02040503050406030204" pitchFamily="18" charset="0"/>
                <a:ea typeface="Cambria" panose="02040503050406030204" pitchFamily="18" charset="0"/>
                <a:hlinkClick r:id="rId4"/>
              </a:rPr>
              <a:t>arXiv</a:t>
            </a:r>
            <a:r>
              <a:rPr lang="en-IN" dirty="0">
                <a:latin typeface="Cambria" panose="02040503050406030204" pitchFamily="18" charset="0"/>
                <a:ea typeface="Cambria" panose="02040503050406030204" pitchFamily="18" charset="0"/>
                <a:hlinkClick r:id="rId4"/>
              </a:rPr>
              <a:t> Link</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Defines chatbot quality metrics: usability, reliability, conversational ability, accessibility.</a:t>
            </a:r>
          </a:p>
          <a:p>
            <a:r>
              <a:rPr lang="en-IN" b="1" dirty="0">
                <a:latin typeface="Cambria" panose="02040503050406030204" pitchFamily="18" charset="0"/>
                <a:ea typeface="Cambria" panose="02040503050406030204" pitchFamily="18" charset="0"/>
              </a:rPr>
              <a:t>Geyik et al. (LinkedIn, 2017)</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Personalized Job Recommendation System</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5"/>
              </a:rPr>
              <a:t>https://engineering.linkedin.com/blog/2017/05/ai-powered-job-recommendations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Hybrid online/offline recommendation system for personalized job matching.</a:t>
            </a:r>
          </a:p>
        </p:txBody>
      </p:sp>
    </p:spTree>
    <p:extLst>
      <p:ext uri="{BB962C8B-B14F-4D97-AF65-F5344CB8AC3E}">
        <p14:creationId xmlns:p14="http://schemas.microsoft.com/office/powerpoint/2010/main" val="3883669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44107B3-6269-DAE8-9ACF-11259C233AFD}"/>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7E492C7-2766-ACBD-0281-B7A4C23F26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B523B4F5-EB4B-1D12-335D-5CFF32D39287}"/>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7DD6E959-BAD1-A3DA-47BD-AC811160F132}"/>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C7655AEE-2443-5A2A-5F43-A28753F70817}"/>
              </a:ext>
            </a:extLst>
          </p:cNvPr>
          <p:cNvSpPr txBox="1">
            <a:spLocks/>
          </p:cNvSpPr>
          <p:nvPr/>
        </p:nvSpPr>
        <p:spPr>
          <a:xfrm>
            <a:off x="442686" y="952500"/>
            <a:ext cx="11125200" cy="49529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b="1" dirty="0">
                <a:latin typeface="Cambria" panose="02040503050406030204" pitchFamily="18" charset="0"/>
                <a:ea typeface="Cambria" panose="02040503050406030204" pitchFamily="18" charset="0"/>
                <a:cs typeface="Calibri" panose="020F0502020204030204" pitchFamily="34" charset="0"/>
              </a:rPr>
              <a:t>IndicST (2025)</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Speech-to-Text for Low-Resource Indian Languages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3"/>
              </a:rPr>
              <a:t>GitHub Project</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Improves speech recognition in Indic languages using multilingual corpora.</a:t>
            </a:r>
          </a:p>
          <a:p>
            <a:r>
              <a:rPr lang="en-IN" b="1" dirty="0">
                <a:latin typeface="Cambria" panose="02040503050406030204" pitchFamily="18" charset="0"/>
                <a:ea typeface="Cambria" panose="02040503050406030204" pitchFamily="18" charset="0"/>
                <a:cs typeface="Calibri" panose="020F0502020204030204" pitchFamily="34" charset="0"/>
              </a:rPr>
              <a:t>Popov et al. (2024)</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Diffusion-based TTS for Low-Resource Languages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4"/>
              </a:rPr>
              <a:t>https://arxiv.org/abs/2401.00386</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Uses diffusion models for high-quality text-to-speech in resource-scarce languages.</a:t>
            </a:r>
          </a:p>
          <a:p>
            <a:r>
              <a:rPr lang="en-IN" b="1" dirty="0">
                <a:latin typeface="Cambria" panose="02040503050406030204" pitchFamily="18" charset="0"/>
                <a:ea typeface="Cambria" panose="02040503050406030204" pitchFamily="18" charset="0"/>
                <a:cs typeface="Calibri" panose="020F0502020204030204" pitchFamily="34" charset="0"/>
              </a:rPr>
              <a:t>Reddy et al. (2023)</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Inter-Bilingual Semantic Parsing for Indian Languages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5"/>
              </a:rPr>
              <a:t>https://arxiv.org/abs/2303.13348</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Cross-lingual semantic parsing for multilingual dialogue systems.</a:t>
            </a:r>
          </a:p>
          <a:p>
            <a:r>
              <a:rPr lang="en-IN" b="1" dirty="0">
                <a:latin typeface="Cambria" panose="02040503050406030204" pitchFamily="18" charset="0"/>
                <a:ea typeface="Cambria" panose="02040503050406030204" pitchFamily="18" charset="0"/>
                <a:cs typeface="Calibri" panose="020F0502020204030204" pitchFamily="34" charset="0"/>
              </a:rPr>
              <a:t>Kaur &amp; Sharma (2021)</a:t>
            </a:r>
            <a:r>
              <a:rPr lang="en-IN" dirty="0">
                <a:latin typeface="Cambria" panose="02040503050406030204" pitchFamily="18" charset="0"/>
                <a:ea typeface="Cambria" panose="02040503050406030204" pitchFamily="18" charset="0"/>
                <a:cs typeface="Calibri" panose="020F0502020204030204" pitchFamily="34" charset="0"/>
              </a:rPr>
              <a:t> – </a:t>
            </a:r>
            <a:r>
              <a:rPr lang="en-IN" i="1" dirty="0">
                <a:latin typeface="Cambria" panose="02040503050406030204" pitchFamily="18" charset="0"/>
                <a:ea typeface="Cambria" panose="02040503050406030204" pitchFamily="18" charset="0"/>
                <a:cs typeface="Calibri" panose="020F0502020204030204" pitchFamily="34" charset="0"/>
              </a:rPr>
              <a:t>Hybrid Summarization for Hindi &amp; Punjabi Documents</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hlinkClick r:id="rId6"/>
              </a:rPr>
              <a:t>https://www.ijrte.org/wp-content/uploads/papers/v9i1/A4886059121.pdf</a:t>
            </a:r>
            <a:br>
              <a:rPr lang="en-IN" dirty="0">
                <a:latin typeface="Cambria" panose="02040503050406030204" pitchFamily="18" charset="0"/>
                <a:ea typeface="Cambria" panose="02040503050406030204" pitchFamily="18" charset="0"/>
                <a:cs typeface="Calibri" panose="020F0502020204030204" pitchFamily="34" charset="0"/>
              </a:rPr>
            </a:br>
            <a:r>
              <a:rPr lang="en-IN" dirty="0">
                <a:latin typeface="Cambria" panose="02040503050406030204" pitchFamily="18" charset="0"/>
                <a:ea typeface="Cambria" panose="02040503050406030204" pitchFamily="18" charset="0"/>
                <a:cs typeface="Calibri" panose="020F0502020204030204" pitchFamily="34" charset="0"/>
              </a:rPr>
              <a:t>→ Hybrid extractive summarization method tailored for Indian languages</a:t>
            </a:r>
            <a:r>
              <a:rPr lang="en-IN" dirty="0">
                <a:latin typeface="Cambria" panose="02040503050406030204" pitchFamily="18" charset="0"/>
                <a:ea typeface="Cambria" panose="02040503050406030204" pitchFamily="18" charset="0"/>
              </a:rPr>
              <a:t>.</a:t>
            </a:r>
            <a:br>
              <a:rPr lang="en-IN" dirty="0">
                <a:latin typeface="Cambria" panose="02040503050406030204" pitchFamily="18" charset="0"/>
                <a:ea typeface="Cambria" panose="02040503050406030204" pitchFamily="18" charset="0"/>
              </a:rPr>
            </a:b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4879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4AFA100-505A-6D69-FD13-08D5B562D42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5B04C04D-081B-F9C0-56F3-69BD1AE800E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C725E444-42AF-48BA-F46D-196C5A6A72B0}"/>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40BDA8AF-F942-D008-E36D-A1053D5C0271}"/>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CB6A7DCA-D046-4951-9CFA-6CB3F1E92074}"/>
              </a:ext>
            </a:extLst>
          </p:cNvPr>
          <p:cNvSpPr txBox="1">
            <a:spLocks/>
          </p:cNvSpPr>
          <p:nvPr/>
        </p:nvSpPr>
        <p:spPr>
          <a:xfrm>
            <a:off x="533400" y="1031650"/>
            <a:ext cx="11125200" cy="49529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b="1" dirty="0">
                <a:latin typeface="Cambria" panose="02040503050406030204" pitchFamily="18" charset="0"/>
                <a:ea typeface="Cambria" panose="02040503050406030204" pitchFamily="18" charset="0"/>
              </a:rPr>
              <a:t>Kshetri (2022)</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AI Chatbots in Indian Recruitment</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3"/>
              </a:rPr>
              <a:t>ResearchGate Link</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Study on how Indian recruiters use chatbots, benefits &amp; challenges.</a:t>
            </a:r>
          </a:p>
          <a:p>
            <a:r>
              <a:rPr lang="en-IN" b="1" dirty="0">
                <a:latin typeface="Cambria" panose="02040503050406030204" pitchFamily="18" charset="0"/>
                <a:ea typeface="Cambria" panose="02040503050406030204" pitchFamily="18" charset="0"/>
              </a:rPr>
              <a:t>Yadav et al. (2021)</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AI-Based Job Portal with Chatbot Integration</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4"/>
              </a:rPr>
              <a:t>https://ijrpr.com/uploads/V2ISSUE3/IJRPR237.pdf</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Prototype of a job portal with AI chatbot for faster job search &amp; FAQs.</a:t>
            </a:r>
          </a:p>
          <a:p>
            <a:r>
              <a:rPr lang="en-IN" b="1" dirty="0">
                <a:latin typeface="Cambria" panose="02040503050406030204" pitchFamily="18" charset="0"/>
                <a:ea typeface="Cambria" panose="02040503050406030204" pitchFamily="18" charset="0"/>
              </a:rPr>
              <a:t>Sundar et al. (2020)</a:t>
            </a:r>
            <a:r>
              <a:rPr lang="en-IN" dirty="0">
                <a:latin typeface="Cambria" panose="02040503050406030204" pitchFamily="18" charset="0"/>
                <a:ea typeface="Cambria" panose="02040503050406030204" pitchFamily="18" charset="0"/>
              </a:rPr>
              <a:t> – </a:t>
            </a:r>
            <a:r>
              <a:rPr lang="en-IN" i="1" dirty="0">
                <a:latin typeface="Cambria" panose="02040503050406030204" pitchFamily="18" charset="0"/>
                <a:ea typeface="Cambria" panose="02040503050406030204" pitchFamily="18" charset="0"/>
              </a:rPr>
              <a:t>Accessibility Challenges in Multilingual Screen Readers</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hlinkClick r:id="rId5"/>
              </a:rPr>
              <a:t>https://dl.acm.org/doi/10.1145/3373625.3418306</a:t>
            </a:r>
            <a:br>
              <a:rPr lang="en-IN" dirty="0">
                <a:latin typeface="Cambria" panose="02040503050406030204" pitchFamily="18" charset="0"/>
                <a:ea typeface="Cambria" panose="02040503050406030204" pitchFamily="18" charset="0"/>
              </a:rPr>
            </a:br>
            <a:r>
              <a:rPr lang="en-IN" dirty="0">
                <a:latin typeface="Cambria" panose="02040503050406030204" pitchFamily="18" charset="0"/>
                <a:ea typeface="Cambria" panose="02040503050406030204" pitchFamily="18" charset="0"/>
              </a:rPr>
              <a:t>→ Shows how multilingual websites pose challenges for visually impaired users.</a:t>
            </a:r>
          </a:p>
        </p:txBody>
      </p:sp>
    </p:spTree>
    <p:extLst>
      <p:ext uri="{BB962C8B-B14F-4D97-AF65-F5344CB8AC3E}">
        <p14:creationId xmlns:p14="http://schemas.microsoft.com/office/powerpoint/2010/main" val="1690987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2B95658-A9E0-90F0-A01A-FFBDD3E0582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DCAF8830-EBBD-B5FD-19DF-EE113D0A8EE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Existing Methods </a:t>
            </a:r>
          </a:p>
        </p:txBody>
      </p:sp>
      <p:sp>
        <p:nvSpPr>
          <p:cNvPr id="115" name="Google Shape;115;p17">
            <a:extLst>
              <a:ext uri="{FF2B5EF4-FFF2-40B4-BE49-F238E27FC236}">
                <a16:creationId xmlns:a16="http://schemas.microsoft.com/office/drawing/2014/main" id="{0AFE8802-9D66-5EE4-D526-7D27FC7F4324}"/>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8595386C-1AD6-83D7-E483-5BE843BE95FA}"/>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16E23A37-06DB-EE78-E505-AB1C63DAC3B7}"/>
              </a:ext>
            </a:extLst>
          </p:cNvPr>
          <p:cNvSpPr txBox="1">
            <a:spLocks/>
          </p:cNvSpPr>
          <p:nvPr/>
        </p:nvSpPr>
        <p:spPr>
          <a:xfrm>
            <a:off x="584200" y="868760"/>
            <a:ext cx="11125200" cy="52272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US" sz="2000" b="1" dirty="0">
                <a:latin typeface="Cambria" panose="02040503050406030204" pitchFamily="18" charset="0"/>
                <a:ea typeface="Cambria" panose="02040503050406030204" pitchFamily="18" charset="0"/>
              </a:rPr>
              <a:t>Rule-based Chatbots</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Predefined question–answer pairs.</a:t>
            </a:r>
          </a:p>
          <a:p>
            <a:pPr lvl="1"/>
            <a:r>
              <a:rPr lang="en-US" dirty="0">
                <a:latin typeface="Cambria" panose="02040503050406030204" pitchFamily="18" charset="0"/>
                <a:ea typeface="Cambria" panose="02040503050406030204" pitchFamily="18" charset="0"/>
              </a:rPr>
              <a:t>Common in older government job portals and recruitment FAQs.</a:t>
            </a:r>
          </a:p>
          <a:p>
            <a:r>
              <a:rPr lang="en-US" sz="2000" b="1" dirty="0">
                <a:latin typeface="Cambria" panose="02040503050406030204" pitchFamily="18" charset="0"/>
                <a:ea typeface="Cambria" panose="02040503050406030204" pitchFamily="18" charset="0"/>
              </a:rPr>
              <a:t>Menu-driven Navigation</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Users select from dropdowns or menus to find jobs or services.</a:t>
            </a:r>
          </a:p>
          <a:p>
            <a:pPr lvl="1"/>
            <a:r>
              <a:rPr lang="en-US" dirty="0">
                <a:latin typeface="Cambria" panose="02040503050406030204" pitchFamily="18" charset="0"/>
                <a:ea typeface="Cambria" panose="02040503050406030204" pitchFamily="18" charset="0"/>
              </a:rPr>
              <a:t>Widely used in current PGRKAM portal.</a:t>
            </a:r>
          </a:p>
          <a:p>
            <a:r>
              <a:rPr lang="en-US" sz="2000" b="1" dirty="0">
                <a:latin typeface="Cambria" panose="02040503050406030204" pitchFamily="18" charset="0"/>
                <a:ea typeface="Cambria" panose="02040503050406030204" pitchFamily="18" charset="0"/>
              </a:rPr>
              <a:t>Generic Search Bars</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Keyword search to retrieve results.</a:t>
            </a:r>
          </a:p>
          <a:p>
            <a:pPr lvl="1"/>
            <a:r>
              <a:rPr lang="en-US" dirty="0">
                <a:latin typeface="Cambria" panose="02040503050406030204" pitchFamily="18" charset="0"/>
                <a:ea typeface="Cambria" panose="02040503050406030204" pitchFamily="18" charset="0"/>
              </a:rPr>
              <a:t>Often English-only and not optimized for regional languages.</a:t>
            </a:r>
          </a:p>
          <a:p>
            <a:r>
              <a:rPr lang="en-US" sz="2000" b="1" dirty="0">
                <a:latin typeface="Cambria" panose="02040503050406030204" pitchFamily="18" charset="0"/>
                <a:ea typeface="Cambria" panose="02040503050406030204" pitchFamily="18" charset="0"/>
              </a:rPr>
              <a:t>Third-party Career Portals (e.g., Naukri, LinkedIn)</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Provide AI-based job recommendations.</a:t>
            </a:r>
          </a:p>
          <a:p>
            <a:pPr lvl="1"/>
            <a:r>
              <a:rPr lang="en-US" dirty="0">
                <a:latin typeface="Cambria" panose="02040503050406030204" pitchFamily="18" charset="0"/>
                <a:ea typeface="Cambria" panose="02040503050406030204" pitchFamily="18" charset="0"/>
              </a:rPr>
              <a:t>Focus mainly on English-speaking audience and private sector jobs.</a:t>
            </a:r>
          </a:p>
          <a:p>
            <a:r>
              <a:rPr lang="en-US" sz="2000" b="1" dirty="0">
                <a:latin typeface="Cambria" panose="02040503050406030204" pitchFamily="18" charset="0"/>
                <a:ea typeface="Cambria" panose="02040503050406030204" pitchFamily="18" charset="0"/>
              </a:rPr>
              <a:t>Voice Assistants (Google Assistant, Alexa)</a:t>
            </a:r>
            <a:endParaRPr lang="en-US" sz="2000"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Can handle job-related questions but lack integration with regional government databases.</a:t>
            </a:r>
          </a:p>
        </p:txBody>
      </p:sp>
    </p:spTree>
    <p:extLst>
      <p:ext uri="{BB962C8B-B14F-4D97-AF65-F5344CB8AC3E}">
        <p14:creationId xmlns:p14="http://schemas.microsoft.com/office/powerpoint/2010/main" val="20834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F81BD49-111E-3D72-AE52-BF82E4A16AB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C20F2F5-7004-B254-873F-63DAD72873D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Drawbacks of Existing Methods </a:t>
            </a:r>
          </a:p>
        </p:txBody>
      </p:sp>
      <p:sp>
        <p:nvSpPr>
          <p:cNvPr id="115" name="Google Shape;115;p17">
            <a:extLst>
              <a:ext uri="{FF2B5EF4-FFF2-40B4-BE49-F238E27FC236}">
                <a16:creationId xmlns:a16="http://schemas.microsoft.com/office/drawing/2014/main" id="{C4157AF8-2087-F877-7BB5-D7B4E5DF22F8}"/>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92E5AE85-8981-342F-EBBD-AE81FB08034A}"/>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EC409D00-3E78-207F-B185-AC8636939975}"/>
              </a:ext>
            </a:extLst>
          </p:cNvPr>
          <p:cNvSpPr txBox="1">
            <a:spLocks/>
          </p:cNvSpPr>
          <p:nvPr/>
        </p:nvSpPr>
        <p:spPr>
          <a:xfrm>
            <a:off x="584200" y="1005880"/>
            <a:ext cx="11125200" cy="5227240"/>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US" b="1" dirty="0">
                <a:latin typeface="Cambria" panose="02040503050406030204" pitchFamily="18" charset="0"/>
                <a:ea typeface="Cambria" panose="02040503050406030204" pitchFamily="18" charset="0"/>
              </a:rPr>
              <a:t>Limited Intelligence: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Rule-based chatbots fail when queries are outside predefined patterns.</a:t>
            </a:r>
          </a:p>
          <a:p>
            <a:r>
              <a:rPr lang="en-US" b="1" dirty="0">
                <a:latin typeface="Cambria" panose="02040503050406030204" pitchFamily="18" charset="0"/>
                <a:ea typeface="Cambria" panose="02040503050406030204" pitchFamily="18" charset="0"/>
              </a:rPr>
              <a:t>Poor Multilingual Support:</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Current systems mostly support English, little to no Punjabi/Hindi coverage.</a:t>
            </a:r>
          </a:p>
          <a:p>
            <a:r>
              <a:rPr lang="en-US" b="1" dirty="0">
                <a:latin typeface="Cambria" panose="02040503050406030204" pitchFamily="18" charset="0"/>
                <a:ea typeface="Cambria" panose="02040503050406030204" pitchFamily="18" charset="0"/>
              </a:rPr>
              <a:t>High Navigation Effort:</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Users must browse multiple modules manually (as in PGRKAM portal now).</a:t>
            </a:r>
          </a:p>
          <a:p>
            <a:r>
              <a:rPr lang="en-US" b="1" dirty="0">
                <a:latin typeface="Cambria" panose="02040503050406030204" pitchFamily="18" charset="0"/>
                <a:ea typeface="Cambria" panose="02040503050406030204" pitchFamily="18" charset="0"/>
              </a:rPr>
              <a:t>Lack of Personalization: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No mechanism to remember candidate history, preferences, or past interactions.</a:t>
            </a:r>
          </a:p>
          <a:p>
            <a:r>
              <a:rPr lang="en-US" b="1" dirty="0">
                <a:latin typeface="Cambria" panose="02040503050406030204" pitchFamily="18" charset="0"/>
                <a:ea typeface="Cambria" panose="02040503050406030204" pitchFamily="18" charset="0"/>
              </a:rPr>
              <a:t>Accessibility Gaps: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Screen-reader compatibility is low, making it difficult for visually impaired users.</a:t>
            </a:r>
          </a:p>
          <a:p>
            <a:r>
              <a:rPr lang="en-US" b="1" dirty="0">
                <a:latin typeface="Cambria" panose="02040503050406030204" pitchFamily="18" charset="0"/>
                <a:ea typeface="Cambria" panose="02040503050406030204" pitchFamily="18" charset="0"/>
              </a:rPr>
              <a:t>Fragmented Experience: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No single assistant integrates job search, skill development, counseling, and foreign job/study options in one place.</a:t>
            </a:r>
          </a:p>
        </p:txBody>
      </p:sp>
    </p:spTree>
    <p:extLst>
      <p:ext uri="{BB962C8B-B14F-4D97-AF65-F5344CB8AC3E}">
        <p14:creationId xmlns:p14="http://schemas.microsoft.com/office/powerpoint/2010/main" val="2623116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9408-DC3A-2DF7-DEF2-DFF5F620B73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P</a:t>
            </a:r>
            <a:r>
              <a:rPr lang="en-IN" dirty="0">
                <a:latin typeface="Cambria" panose="02040503050406030204" pitchFamily="18" charset="0"/>
                <a:ea typeface="Cambria" panose="02040503050406030204" pitchFamily="18" charset="0"/>
              </a:rPr>
              <a:t>roposed Methods</a:t>
            </a:r>
          </a:p>
        </p:txBody>
      </p:sp>
      <p:sp>
        <p:nvSpPr>
          <p:cNvPr id="3" name="Text Placeholder 2">
            <a:extLst>
              <a:ext uri="{FF2B5EF4-FFF2-40B4-BE49-F238E27FC236}">
                <a16:creationId xmlns:a16="http://schemas.microsoft.com/office/drawing/2014/main" id="{B6FD2D36-2FC6-D90B-40D3-BB3E609E9FD9}"/>
              </a:ext>
            </a:extLst>
          </p:cNvPr>
          <p:cNvSpPr>
            <a:spLocks noGrp="1"/>
          </p:cNvSpPr>
          <p:nvPr>
            <p:ph type="body" idx="1"/>
          </p:nvPr>
        </p:nvSpPr>
        <p:spPr/>
        <p:txBody>
          <a:bodyPr/>
          <a:lstStyle/>
          <a:p>
            <a:pPr lvl="0"/>
            <a:r>
              <a:rPr lang="en-IN" b="1" dirty="0">
                <a:latin typeface="Cambria" panose="02040503050406030204" pitchFamily="18" charset="0"/>
                <a:ea typeface="Cambria" panose="02040503050406030204" pitchFamily="18" charset="0"/>
              </a:rPr>
              <a:t>Multilingual Conversational Interface:</a:t>
            </a:r>
            <a:r>
              <a:rPr lang="en-IN" dirty="0">
                <a:latin typeface="Cambria" panose="02040503050406030204" pitchFamily="18" charset="0"/>
                <a:ea typeface="Cambria" panose="02040503050406030204" pitchFamily="18" charset="0"/>
              </a:rPr>
              <a:t> Supports Punjabi, Hindi, and English for wider regional accessibility.</a:t>
            </a:r>
          </a:p>
          <a:p>
            <a:pPr lvl="0"/>
            <a:r>
              <a:rPr lang="en-IN" b="1" dirty="0">
                <a:latin typeface="Cambria" panose="02040503050406030204" pitchFamily="18" charset="0"/>
                <a:ea typeface="Cambria" panose="02040503050406030204" pitchFamily="18" charset="0"/>
              </a:rPr>
              <a:t>Voice-Enabled Interaction:</a:t>
            </a:r>
            <a:r>
              <a:rPr lang="en-IN" dirty="0">
                <a:latin typeface="Cambria" panose="02040503050406030204" pitchFamily="18" charset="0"/>
                <a:ea typeface="Cambria" panose="02040503050406030204" pitchFamily="18" charset="0"/>
              </a:rPr>
              <a:t> Facilitates both speech input and audio output for improved usability.</a:t>
            </a:r>
          </a:p>
          <a:p>
            <a:pPr lvl="0"/>
            <a:r>
              <a:rPr lang="en-IN" b="1" dirty="0">
                <a:latin typeface="Cambria" panose="02040503050406030204" pitchFamily="18" charset="0"/>
                <a:ea typeface="Cambria" panose="02040503050406030204" pitchFamily="18" charset="0"/>
              </a:rPr>
              <a:t>Personalized Recommendations:</a:t>
            </a:r>
            <a:r>
              <a:rPr lang="en-IN" dirty="0">
                <a:latin typeface="Cambria" panose="02040503050406030204" pitchFamily="18" charset="0"/>
                <a:ea typeface="Cambria" panose="02040503050406030204" pitchFamily="18" charset="0"/>
              </a:rPr>
              <a:t> Utilizes user history and preferences to deliver targeted job and skill suggestions.</a:t>
            </a:r>
          </a:p>
          <a:p>
            <a:pPr lvl="0"/>
            <a:r>
              <a:rPr lang="en-IN" b="1" dirty="0">
                <a:latin typeface="Cambria" panose="02040503050406030204" pitchFamily="18" charset="0"/>
                <a:ea typeface="Cambria" panose="02040503050406030204" pitchFamily="18" charset="0"/>
              </a:rPr>
              <a:t>Accessibility Integration:</a:t>
            </a:r>
            <a:r>
              <a:rPr lang="en-IN" dirty="0">
                <a:latin typeface="Cambria" panose="02040503050406030204" pitchFamily="18" charset="0"/>
                <a:ea typeface="Cambria" panose="02040503050406030204" pitchFamily="18" charset="0"/>
              </a:rPr>
              <a:t> Incorporates a screen-reading module to assist visually impaired users.</a:t>
            </a:r>
          </a:p>
          <a:p>
            <a:pPr lvl="0"/>
            <a:r>
              <a:rPr lang="en-IN" b="1" dirty="0">
                <a:latin typeface="Cambria" panose="02040503050406030204" pitchFamily="18" charset="0"/>
                <a:ea typeface="Cambria" panose="02040503050406030204" pitchFamily="18" charset="0"/>
              </a:rPr>
              <a:t>Seamless Platform Integration:</a:t>
            </a:r>
            <a:r>
              <a:rPr lang="en-IN" dirty="0">
                <a:latin typeface="Cambria" panose="02040503050406030204" pitchFamily="18" charset="0"/>
                <a:ea typeface="Cambria" panose="02040503050406030204" pitchFamily="18" charset="0"/>
              </a:rPr>
              <a:t> Designed to work across both web and mobile versions of the PGRKAM platform.</a:t>
            </a:r>
          </a:p>
          <a:p>
            <a:pPr lvl="0"/>
            <a:r>
              <a:rPr lang="en-IN" b="1" dirty="0">
                <a:latin typeface="Cambria" panose="02040503050406030204" pitchFamily="18" charset="0"/>
                <a:ea typeface="Cambria" panose="02040503050406030204" pitchFamily="18" charset="0"/>
              </a:rPr>
              <a:t>Context-Aware Navigation:</a:t>
            </a:r>
            <a:r>
              <a:rPr lang="en-IN" dirty="0">
                <a:latin typeface="Cambria" panose="02040503050406030204" pitchFamily="18" charset="0"/>
                <a:ea typeface="Cambria" panose="02040503050406030204" pitchFamily="18" charset="0"/>
              </a:rPr>
              <a:t> Directs users to the most relevant services without manual browsing.</a:t>
            </a:r>
          </a:p>
          <a:p>
            <a:endParaRPr lang="en-IN" dirty="0"/>
          </a:p>
        </p:txBody>
      </p:sp>
    </p:spTree>
    <p:extLst>
      <p:ext uri="{BB962C8B-B14F-4D97-AF65-F5344CB8AC3E}">
        <p14:creationId xmlns:p14="http://schemas.microsoft.com/office/powerpoint/2010/main" val="1868603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Feasibility Study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1699C13-DF69-F0CD-B0B5-AAD40B31B357}"/>
              </a:ext>
            </a:extLst>
          </p:cNvPr>
          <p:cNvSpPr>
            <a:spLocks noChangeArrowheads="1"/>
          </p:cNvSpPr>
          <p:nvPr/>
        </p:nvSpPr>
        <p:spPr bwMode="auto">
          <a:xfrm>
            <a:off x="812800" y="1359165"/>
            <a:ext cx="588173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Frontend:</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HTML5, CSS3,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Backend:</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Java (Spring Boot / Servlets)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Database:</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MySQL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Server:</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Apache Tomcat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Version Control:</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Git,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Tools:</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VS Code, Eclipse/IntelliJ</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Build Tool:</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Maven</a:t>
            </a:r>
          </a:p>
        </p:txBody>
      </p:sp>
    </p:spTree>
    <p:extLst>
      <p:ext uri="{BB962C8B-B14F-4D97-AF65-F5344CB8AC3E}">
        <p14:creationId xmlns:p14="http://schemas.microsoft.com/office/powerpoint/2010/main" val="1030816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2633030"/>
            <a:ext cx="10668000" cy="26882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6CD354C-98C6-4F58-FB0A-3EA1C46AD74A}"/>
              </a:ext>
            </a:extLst>
          </p:cNvPr>
          <p:cNvPicPr>
            <a:picLocks noChangeAspect="1"/>
          </p:cNvPicPr>
          <p:nvPr/>
        </p:nvPicPr>
        <p:blipFill>
          <a:blip r:embed="rId3"/>
          <a:stretch>
            <a:fillRect/>
          </a:stretch>
        </p:blipFill>
        <p:spPr>
          <a:xfrm>
            <a:off x="939800" y="1143000"/>
            <a:ext cx="10287000" cy="4865916"/>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0177E5F-B5F6-8E85-6BC7-348C45DD318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5669D19-D035-205F-9E7C-43509AF387EF}"/>
              </a:ext>
            </a:extLst>
          </p:cNvPr>
          <p:cNvSpPr txBox="1">
            <a:spLocks noGrp="1"/>
          </p:cNvSpPr>
          <p:nvPr>
            <p:ph type="title"/>
          </p:nvPr>
        </p:nvSpPr>
        <p:spPr>
          <a:xfrm>
            <a:off x="711200" y="330017"/>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 Description</a:t>
            </a:r>
          </a:p>
        </p:txBody>
      </p:sp>
      <p:sp>
        <p:nvSpPr>
          <p:cNvPr id="115" name="Google Shape;115;p17">
            <a:extLst>
              <a:ext uri="{FF2B5EF4-FFF2-40B4-BE49-F238E27FC236}">
                <a16:creationId xmlns:a16="http://schemas.microsoft.com/office/drawing/2014/main" id="{3CB29542-B004-7C20-176F-81BD5B2FF91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307DE5F6-920D-B6F7-4046-3A60466699E4}"/>
              </a:ext>
            </a:extLst>
          </p:cNvPr>
          <p:cNvSpPr txBox="1">
            <a:spLocks/>
          </p:cNvSpPr>
          <p:nvPr/>
        </p:nvSpPr>
        <p:spPr>
          <a:xfrm>
            <a:off x="567981" y="174186"/>
            <a:ext cx="106680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User Interaction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Web &amp; mobile chatbot interface.</a:t>
            </a:r>
          </a:p>
          <a:p>
            <a:pPr lvl="1"/>
            <a:r>
              <a:rPr lang="en-IN" sz="2400" dirty="0">
                <a:latin typeface="Cambria" panose="02040503050406030204" pitchFamily="18" charset="0"/>
                <a:ea typeface="Cambria" panose="02040503050406030204" pitchFamily="18" charset="0"/>
              </a:rPr>
              <a:t>Supports text, voice input, and audio responses.</a:t>
            </a:r>
          </a:p>
          <a:p>
            <a:r>
              <a:rPr lang="en-IN" b="1" dirty="0">
                <a:latin typeface="Cambria" panose="02040503050406030204" pitchFamily="18" charset="0"/>
                <a:ea typeface="Cambria" panose="02040503050406030204" pitchFamily="18" charset="0"/>
              </a:rPr>
              <a:t>Language Processing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Multilingual (Punjabi/Hindi/English).</a:t>
            </a:r>
          </a:p>
          <a:p>
            <a:pPr lvl="1"/>
            <a:r>
              <a:rPr lang="en-IN" sz="2400" dirty="0">
                <a:latin typeface="Cambria" panose="02040503050406030204" pitchFamily="18" charset="0"/>
                <a:ea typeface="Cambria" panose="02040503050406030204" pitchFamily="18" charset="0"/>
              </a:rPr>
              <a:t>Speech-to-Text, Text-to-Speech, intent recognition via LLM.</a:t>
            </a:r>
          </a:p>
          <a:p>
            <a:r>
              <a:rPr lang="en-IN" b="1" dirty="0">
                <a:latin typeface="Cambria" panose="02040503050406030204" pitchFamily="18" charset="0"/>
                <a:ea typeface="Cambria" panose="02040503050406030204" pitchFamily="18" charset="0"/>
              </a:rPr>
              <a:t>Recommendation &amp; Personalization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Profile &amp; history-based filtering.</a:t>
            </a:r>
          </a:p>
          <a:p>
            <a:pPr lvl="1"/>
            <a:r>
              <a:rPr lang="en-IN" sz="2400" dirty="0">
                <a:latin typeface="Cambria" panose="02040503050406030204" pitchFamily="18" charset="0"/>
                <a:ea typeface="Cambria" panose="02040503050406030204" pitchFamily="18" charset="0"/>
              </a:rPr>
              <a:t>Suggests jobs, skills, and counseling options.</a:t>
            </a:r>
          </a:p>
          <a:p>
            <a:r>
              <a:rPr lang="en-IN" b="1" dirty="0">
                <a:latin typeface="Cambria" panose="02040503050406030204" pitchFamily="18" charset="0"/>
                <a:ea typeface="Cambria" panose="02040503050406030204" pitchFamily="18" charset="0"/>
              </a:rPr>
              <a:t>Integration &amp; Middleware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Connects chatbot with PGRKAM APIs.</a:t>
            </a:r>
          </a:p>
          <a:p>
            <a:pPr lvl="1"/>
            <a:r>
              <a:rPr lang="en-IN" sz="2400" dirty="0">
                <a:latin typeface="Cambria" panose="02040503050406030204" pitchFamily="18" charset="0"/>
                <a:ea typeface="Cambria" panose="02040503050406030204" pitchFamily="18" charset="0"/>
              </a:rPr>
              <a:t>Maintains session context for smooth navigation.</a:t>
            </a: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488B8332-CE8D-C4C0-7AB4-AD80FC68FF32}"/>
              </a:ext>
            </a:extLst>
          </p:cNvPr>
          <p:cNvSpPr txBox="1">
            <a:spLocks/>
          </p:cNvSpPr>
          <p:nvPr/>
        </p:nvSpPr>
        <p:spPr>
          <a:xfrm>
            <a:off x="424761" y="330017"/>
            <a:ext cx="10668000" cy="43306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07722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5E1FAF7-BE48-5CED-4EA6-527819C08E10}"/>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458F431-436B-80E2-F09E-545A868DE842}"/>
              </a:ext>
            </a:extLst>
          </p:cNvPr>
          <p:cNvSpPr txBox="1">
            <a:spLocks noGrp="1"/>
          </p:cNvSpPr>
          <p:nvPr>
            <p:ph type="title"/>
          </p:nvPr>
        </p:nvSpPr>
        <p:spPr>
          <a:xfrm>
            <a:off x="711200" y="330017"/>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 Description</a:t>
            </a:r>
          </a:p>
        </p:txBody>
      </p:sp>
      <p:sp>
        <p:nvSpPr>
          <p:cNvPr id="115" name="Google Shape;115;p17">
            <a:extLst>
              <a:ext uri="{FF2B5EF4-FFF2-40B4-BE49-F238E27FC236}">
                <a16:creationId xmlns:a16="http://schemas.microsoft.com/office/drawing/2014/main" id="{42EE1055-B29C-F604-882B-1639CDFD6640}"/>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4B3889E2-024B-4B05-08E2-B089DBDC8D6C}"/>
              </a:ext>
            </a:extLst>
          </p:cNvPr>
          <p:cNvSpPr txBox="1">
            <a:spLocks/>
          </p:cNvSpPr>
          <p:nvPr/>
        </p:nvSpPr>
        <p:spPr>
          <a:xfrm>
            <a:off x="634082" y="251304"/>
            <a:ext cx="106680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Database &amp; Storage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User profiles &amp; preferences (MySQL/Postgres).</a:t>
            </a:r>
          </a:p>
          <a:p>
            <a:pPr lvl="1"/>
            <a:r>
              <a:rPr lang="en-IN" sz="2400" dirty="0">
                <a:latin typeface="Cambria" panose="02040503050406030204" pitchFamily="18" charset="0"/>
                <a:ea typeface="Cambria" panose="02040503050406030204" pitchFamily="18" charset="0"/>
              </a:rPr>
              <a:t>Job listings + local cache for fast access.</a:t>
            </a:r>
          </a:p>
          <a:p>
            <a:r>
              <a:rPr lang="en-IN" b="1" dirty="0">
                <a:latin typeface="Cambria" panose="02040503050406030204" pitchFamily="18" charset="0"/>
                <a:ea typeface="Cambria" panose="02040503050406030204" pitchFamily="18" charset="0"/>
              </a:rPr>
              <a:t>Accessibility &amp; Support Module</a:t>
            </a:r>
            <a:endParaRPr lang="en-IN" dirty="0">
              <a:latin typeface="Cambria" panose="02040503050406030204" pitchFamily="18" charset="0"/>
              <a:ea typeface="Cambria" panose="02040503050406030204" pitchFamily="18" charset="0"/>
            </a:endParaRPr>
          </a:p>
          <a:p>
            <a:pPr lvl="1"/>
            <a:r>
              <a:rPr lang="en-IN" sz="2400" dirty="0">
                <a:latin typeface="Cambria" panose="02040503050406030204" pitchFamily="18" charset="0"/>
                <a:ea typeface="Cambria" panose="02040503050406030204" pitchFamily="18" charset="0"/>
              </a:rPr>
              <a:t>Screen reader compatibility &amp; multilingual summaries.</a:t>
            </a:r>
          </a:p>
          <a:p>
            <a:pPr lvl="1"/>
            <a:r>
              <a:rPr lang="en-IN" sz="2400" dirty="0">
                <a:latin typeface="Cambria" panose="02040503050406030204" pitchFamily="18" charset="0"/>
                <a:ea typeface="Cambria" panose="02040503050406030204" pitchFamily="18" charset="0"/>
              </a:rPr>
              <a:t>Admin dashboard for monitoring &amp; updates.</a:t>
            </a: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lvl="1"/>
            <a:endParaRPr lang="en-IN" sz="24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1612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115" name="Google Shape;115;p17"/>
          <p:cNvSpPr txBox="1">
            <a:spLocks noGrp="1"/>
          </p:cNvSpPr>
          <p:nvPr>
            <p:ph type="body" idx="1"/>
          </p:nvPr>
        </p:nvSpPr>
        <p:spPr>
          <a:xfrm>
            <a:off x="762000" y="1272615"/>
            <a:ext cx="10668000" cy="5153891"/>
          </a:xfrm>
          <a:prstGeom prst="rect">
            <a:avLst/>
          </a:prstGeom>
          <a:noFill/>
          <a:ln>
            <a:noFill/>
          </a:ln>
        </p:spPr>
        <p:txBody>
          <a:bodyPr spcFirstLastPara="1" wrap="square" lIns="91425" tIns="45700" rIns="91425" bIns="45700" anchor="t" anchorCtr="0">
            <a:normAutofit/>
          </a:bodyPr>
          <a:lstStyle/>
          <a:p>
            <a:pPr lvl="0"/>
            <a:r>
              <a:rPr lang="en-IN" dirty="0">
                <a:latin typeface="Cambria" panose="02040503050406030204" pitchFamily="18" charset="0"/>
                <a:ea typeface="Cambria" panose="02040503050406030204" pitchFamily="18" charset="0"/>
              </a:rPr>
              <a:t>The current PGRKAM platform requires users to navigate multiple modules to locate relevant services or information.</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This results in increased time consumption, reduced efficiency, and a suboptimal user experience.</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The absence of an intelligent guidance mechanism limits accessibility for individuals with limited digital literacy or visual impairments.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lvl="0"/>
            <a:r>
              <a:rPr lang="en-IN" dirty="0">
                <a:latin typeface="Cambria" panose="02040503050406030204" pitchFamily="18" charset="0"/>
                <a:ea typeface="Cambria" panose="02040503050406030204" pitchFamily="18" charset="0"/>
              </a:rPr>
              <a:t>There is a clear requirement for an integrated, context-aware system to streamline user interaction with the platform.</a:t>
            </a:r>
          </a:p>
          <a:p>
            <a:pPr lvl="0"/>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A multilingual, voice-enabled AI chatbot with personalization capabilities can address these limitations effectively.</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4746B10B-1580-E0F2-C220-174CE7B5D494}"/>
              </a:ext>
            </a:extLst>
          </p:cNvPr>
          <p:cNvPicPr>
            <a:picLocks noChangeAspect="1"/>
          </p:cNvPicPr>
          <p:nvPr/>
        </p:nvPicPr>
        <p:blipFill>
          <a:blip r:embed="rId3"/>
          <a:stretch>
            <a:fillRect/>
          </a:stretch>
        </p:blipFill>
        <p:spPr>
          <a:xfrm>
            <a:off x="1085850" y="1051770"/>
            <a:ext cx="10703480" cy="501755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62000" y="975159"/>
            <a:ext cx="10668000" cy="5153892"/>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[1] T. B. Brown </a:t>
            </a:r>
            <a:r>
              <a:rPr lang="en-IN" b="1" i="1" dirty="0">
                <a:latin typeface="Cambria" panose="02040503050406030204" pitchFamily="18" charset="0"/>
                <a:ea typeface="Cambria" panose="02040503050406030204" pitchFamily="18" charset="0"/>
              </a:rPr>
              <a:t>et al.</a:t>
            </a:r>
            <a:r>
              <a:rPr lang="en-IN" b="1" dirty="0">
                <a:latin typeface="Cambria" panose="02040503050406030204" pitchFamily="18" charset="0"/>
                <a:ea typeface="Cambria" panose="02040503050406030204" pitchFamily="18" charset="0"/>
              </a:rPr>
              <a:t>, “Language Models are Few-Shot Learners,” </a:t>
            </a:r>
            <a:r>
              <a:rPr lang="en-IN" b="1" i="1" dirty="0">
                <a:latin typeface="Cambria" panose="02040503050406030204" pitchFamily="18" charset="0"/>
                <a:ea typeface="Cambria" panose="02040503050406030204" pitchFamily="18" charset="0"/>
              </a:rPr>
              <a:t>NeurIPS</a:t>
            </a:r>
            <a:r>
              <a:rPr lang="en-IN" b="1" dirty="0">
                <a:latin typeface="Cambria" panose="02040503050406030204" pitchFamily="18" charset="0"/>
                <a:ea typeface="Cambria" panose="02040503050406030204" pitchFamily="18" charset="0"/>
              </a:rPr>
              <a:t>, 2020. </a:t>
            </a:r>
            <a:r>
              <a:rPr lang="en-IN" b="1" u="sng" dirty="0">
                <a:latin typeface="Cambria" panose="02040503050406030204" pitchFamily="18" charset="0"/>
                <a:ea typeface="Cambria" panose="02040503050406030204" pitchFamily="18" charset="0"/>
                <a:hlinkClick r:id="rId3"/>
              </a:rPr>
              <a:t>https://proceedings.neurips.cc/paper/2020/file/1457c0d6bfcb4967418bfb8ac142f64a-Paper.pdfhttps://www.mdpi.com/1424-8220/21/24/8448https://proceedings.neurips.cc/paper/2020/file/1457c0d6bfcb4967418bfb8ac142f64a-Paper.pdf</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[2] M. Allouch, A. Azaria, and R. Azoulay, “Conversational Agents: Goals, Technologies, Vision and Challenges,” </a:t>
            </a:r>
            <a:r>
              <a:rPr lang="en-IN" b="1" i="1" dirty="0">
                <a:latin typeface="Cambria" panose="02040503050406030204" pitchFamily="18" charset="0"/>
                <a:ea typeface="Cambria" panose="02040503050406030204" pitchFamily="18" charset="0"/>
              </a:rPr>
              <a:t>Sensors</a:t>
            </a:r>
            <a:r>
              <a:rPr lang="en-IN" b="1" dirty="0">
                <a:latin typeface="Cambria" panose="02040503050406030204" pitchFamily="18" charset="0"/>
                <a:ea typeface="Cambria" panose="02040503050406030204" pitchFamily="18" charset="0"/>
              </a:rPr>
              <a:t>, vol. 21, no. 24, art. 8448, 2021. </a:t>
            </a:r>
            <a:endParaRPr lang="en-IN" sz="1600"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hlinkClick r:id="rId4"/>
              </a:rPr>
              <a:t>    </a:t>
            </a:r>
            <a:r>
              <a:rPr lang="en-IN" b="1" u="sng" dirty="0">
                <a:latin typeface="Cambria" panose="02040503050406030204" pitchFamily="18" charset="0"/>
                <a:ea typeface="Cambria" panose="02040503050406030204" pitchFamily="18" charset="0"/>
                <a:hlinkClick r:id="rId4"/>
              </a:rPr>
              <a:t>https://www.mdpi.com/1424-8220/21/24/8448</a:t>
            </a:r>
            <a:endParaRPr lang="en-IN" sz="16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ADB6-81C7-36F7-9339-7F8A04868D53}"/>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a:extLst>
              <a:ext uri="{FF2B5EF4-FFF2-40B4-BE49-F238E27FC236}">
                <a16:creationId xmlns:a16="http://schemas.microsoft.com/office/drawing/2014/main" id="{B327127E-3F0F-D872-08CB-ABC15B058A0D}"/>
              </a:ext>
            </a:extLst>
          </p:cNvPr>
          <p:cNvSpPr>
            <a:spLocks noGrp="1"/>
          </p:cNvSpPr>
          <p:nvPr>
            <p:ph type="body" idx="1"/>
          </p:nvPr>
        </p:nvSpPr>
        <p:spPr>
          <a:xfrm>
            <a:off x="628072" y="1562948"/>
            <a:ext cx="11037455" cy="4573447"/>
          </a:xfrm>
        </p:spPr>
        <p:txBody>
          <a:bodyPr/>
          <a:lstStyle/>
          <a:p>
            <a:r>
              <a:rPr lang="en-IN" b="1" dirty="0">
                <a:latin typeface="Cambria" panose="02040503050406030204" pitchFamily="18" charset="0"/>
                <a:ea typeface="Cambria" panose="02040503050406030204" pitchFamily="18" charset="0"/>
              </a:rPr>
              <a:t>[3] S. Kusal </a:t>
            </a:r>
            <a:r>
              <a:rPr lang="en-IN" b="1" i="1" dirty="0">
                <a:latin typeface="Cambria" panose="02040503050406030204" pitchFamily="18" charset="0"/>
                <a:ea typeface="Cambria" panose="02040503050406030204" pitchFamily="18" charset="0"/>
              </a:rPr>
              <a:t>et al.</a:t>
            </a:r>
            <a:r>
              <a:rPr lang="en-IN" b="1" dirty="0">
                <a:latin typeface="Cambria" panose="02040503050406030204" pitchFamily="18" charset="0"/>
                <a:ea typeface="Cambria" panose="02040503050406030204" pitchFamily="18" charset="0"/>
              </a:rPr>
              <a:t>, “AI-Based Conversational Agents: A Scoping Review From Technologies to Future Directions,” </a:t>
            </a:r>
            <a:r>
              <a:rPr lang="en-IN" b="1" i="1" dirty="0">
                <a:latin typeface="Cambria" panose="02040503050406030204" pitchFamily="18" charset="0"/>
                <a:ea typeface="Cambria" panose="02040503050406030204" pitchFamily="18" charset="0"/>
              </a:rPr>
              <a:t>IEEE Access</a:t>
            </a:r>
            <a:r>
              <a:rPr lang="en-IN" b="1" dirty="0">
                <a:latin typeface="Cambria" panose="02040503050406030204" pitchFamily="18" charset="0"/>
                <a:ea typeface="Cambria" panose="02040503050406030204" pitchFamily="18" charset="0"/>
              </a:rPr>
              <a:t>, 2022.</a:t>
            </a:r>
            <a:r>
              <a:rPr lang="en-IN" b="1" u="sng" dirty="0">
                <a:latin typeface="Cambria" panose="02040503050406030204" pitchFamily="18" charset="0"/>
                <a:ea typeface="Cambria" panose="02040503050406030204" pitchFamily="18" charset="0"/>
                <a:hlinkClick r:id="rId2"/>
              </a:rPr>
              <a:t> </a:t>
            </a:r>
            <a:r>
              <a:rPr lang="en-IN" b="1" u="sng" dirty="0">
                <a:latin typeface="Cambria" panose="02040503050406030204" pitchFamily="18" charset="0"/>
                <a:ea typeface="Cambria" panose="02040503050406030204" pitchFamily="18" charset="0"/>
                <a:hlinkClick r:id="rId3"/>
              </a:rPr>
              <a:t>https://doi.org/10.1109/ACCESS.2022.3201144</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[4] N. M. Radziwill and M. C. Benton, “Evaluating Quality of Chatbots and Intelligent Conversational Agents,” </a:t>
            </a:r>
            <a:r>
              <a:rPr lang="en-IN" b="1" i="1" dirty="0">
                <a:latin typeface="Cambria" panose="02040503050406030204" pitchFamily="18" charset="0"/>
                <a:ea typeface="Cambria" panose="02040503050406030204" pitchFamily="18" charset="0"/>
              </a:rPr>
              <a:t>arXiv preprint</a:t>
            </a:r>
            <a:r>
              <a:rPr lang="en-IN" b="1" dirty="0">
                <a:latin typeface="Cambria" panose="02040503050406030204" pitchFamily="18" charset="0"/>
                <a:ea typeface="Cambria" panose="02040503050406030204" pitchFamily="18" charset="0"/>
              </a:rPr>
              <a:t>, 2017. </a:t>
            </a:r>
            <a:r>
              <a:rPr lang="en-IN" b="1" u="sng" dirty="0">
                <a:latin typeface="Cambria" panose="02040503050406030204" pitchFamily="18" charset="0"/>
                <a:ea typeface="Cambria" panose="02040503050406030204" pitchFamily="18" charset="0"/>
                <a:hlinkClick r:id="rId4"/>
              </a:rPr>
              <a:t>https://arxiv.org/abs/1704.04579</a:t>
            </a:r>
            <a:endParaRPr lang="en-IN" b="1" u="sng" dirty="0">
              <a:latin typeface="Cambria" panose="02040503050406030204" pitchFamily="18" charset="0"/>
              <a:ea typeface="Cambria" panose="02040503050406030204" pitchFamily="18" charset="0"/>
            </a:endParaRPr>
          </a:p>
          <a:p>
            <a:endParaRPr lang="en-IN" sz="1600"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[5] J. Gao, M. Galley, and L. Li, “Neural Approaches to Conversational AI,” </a:t>
            </a:r>
            <a:r>
              <a:rPr lang="en-IN" b="1" i="1" dirty="0">
                <a:latin typeface="Cambria" panose="02040503050406030204" pitchFamily="18" charset="0"/>
                <a:ea typeface="Cambria" panose="02040503050406030204" pitchFamily="18" charset="0"/>
              </a:rPr>
              <a:t>arXiv preprint</a:t>
            </a:r>
            <a:r>
              <a:rPr lang="en-IN" b="1" dirty="0">
                <a:latin typeface="Cambria" panose="02040503050406030204" pitchFamily="18" charset="0"/>
                <a:ea typeface="Cambria" panose="02040503050406030204" pitchFamily="18" charset="0"/>
              </a:rPr>
              <a:t>, 2018. </a:t>
            </a:r>
            <a:r>
              <a:rPr lang="en-IN" b="1" u="sng" dirty="0">
                <a:latin typeface="Cambria" panose="02040503050406030204" pitchFamily="18" charset="0"/>
                <a:ea typeface="Cambria" panose="02040503050406030204" pitchFamily="18" charset="0"/>
                <a:hlinkClick r:id="rId5"/>
              </a:rPr>
              <a:t>https://arxiv.org/abs/1809.08267</a:t>
            </a:r>
            <a:endParaRPr lang="en-IN" sz="1600"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92729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TotalTime>
  <Words>1635</Words>
  <Application>Microsoft Office PowerPoint</Application>
  <PresentationFormat>Widescreen</PresentationFormat>
  <Paragraphs>203</Paragraphs>
  <Slides>21</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vt:lpstr>
      <vt:lpstr>Verdana</vt:lpstr>
      <vt:lpstr>Wingdings</vt:lpstr>
      <vt:lpstr>Bioinformatics</vt:lpstr>
      <vt:lpstr>SMART NAVIGATION ASSISTANT FOR PGRKAM PORTAL </vt:lpstr>
      <vt:lpstr>Content</vt:lpstr>
      <vt:lpstr>Problem Statement Number:17 </vt:lpstr>
      <vt:lpstr>Abstract</vt:lpstr>
      <vt:lpstr> Objective</vt:lpstr>
      <vt:lpstr>Literature Survey</vt:lpstr>
      <vt:lpstr>Literature Survey</vt:lpstr>
      <vt:lpstr>Literature Survey</vt:lpstr>
      <vt:lpstr>Existing Methods </vt:lpstr>
      <vt:lpstr>Drawbacks of Existing Methods </vt:lpstr>
      <vt:lpstr>Proposed Methods</vt:lpstr>
      <vt:lpstr>Feasibility Study</vt:lpstr>
      <vt:lpstr>Architecture Diagram</vt:lpstr>
      <vt:lpstr>Module Description</vt:lpstr>
      <vt:lpstr>Module Description</vt:lpstr>
      <vt:lpstr>Software Requirements</vt:lpstr>
      <vt:lpstr>Software Requirements</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balajireddyop@gmail.com</cp:lastModifiedBy>
  <cp:revision>46</cp:revision>
  <dcterms:modified xsi:type="dcterms:W3CDTF">2025-09-08T04:26:12Z</dcterms:modified>
</cp:coreProperties>
</file>