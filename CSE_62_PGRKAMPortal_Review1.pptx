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6"/>
  </p:notesMasterIdLst>
  <p:sldIdLst>
    <p:sldId id="256" r:id="rId2"/>
    <p:sldId id="269" r:id="rId3"/>
    <p:sldId id="257" r:id="rId4"/>
    <p:sldId id="276" r:id="rId5"/>
    <p:sldId id="277" r:id="rId6"/>
    <p:sldId id="273" r:id="rId7"/>
    <p:sldId id="278" r:id="rId8"/>
    <p:sldId id="268" r:id="rId9"/>
    <p:sldId id="272" r:id="rId10"/>
    <p:sldId id="271" r:id="rId11"/>
    <p:sldId id="270" r:id="rId12"/>
    <p:sldId id="265" r:id="rId13"/>
    <p:sldId id="275" r:id="rId14"/>
    <p:sldId id="26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8" d="100"/>
          <a:sy n="58" d="100"/>
        </p:scale>
        <p:origin x="964"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vbalaji2004-pu.github.io/PGRKAM_CapstoneProject_CSE_62/"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proceedings.neurips.cc/paper/2020/file/1457c0d6bfcb4967418bfb8ac142f64a-Paper.pdfhttps:/www.mdpi.com/1424-8220/21/24/8448https:/proceedings.neurips.cc/paper/2020/file/1457c0d6bfcb4967418bfb8ac142f64a-Paper.pdf"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www.mdpi.com/1424-8220/21/24/8448"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doi.org/10.1109/ACCESS.2022.3201144" TargetMode="External"/><Relationship Id="rId2" Type="http://schemas.openxmlformats.org/officeDocument/2006/relationships/hyperlink" Target="file:///C:\Users\V%20BALAJI\Downloads\%20https\doi.org\10.1109\ACCESS.2022.3201144" TargetMode="External"/><Relationship Id="rId1" Type="http://schemas.openxmlformats.org/officeDocument/2006/relationships/slideLayout" Target="../slideLayouts/slideLayout2.xml"/><Relationship Id="rId5" Type="http://schemas.openxmlformats.org/officeDocument/2006/relationships/hyperlink" Target="https://arxiv.org/abs/1809.08267" TargetMode="External"/><Relationship Id="rId4" Type="http://schemas.openxmlformats.org/officeDocument/2006/relationships/hyperlink" Target="https://arxiv.org/abs/1704.04579"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US" sz="2400" dirty="0">
                <a:solidFill>
                  <a:schemeClr val="tx1"/>
                </a:solidFill>
                <a:latin typeface="Cambria" panose="02040503050406030204" pitchFamily="18" charset="0"/>
                <a:ea typeface="Cambria" panose="02040503050406030204" pitchFamily="18" charset="0"/>
              </a:rPr>
              <a:t>SMART NAVIGATION ASSISTANT FOR PGRKAM PORTAL </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sz="1800" dirty="0">
                <a:latin typeface="Cambria" panose="02040503050406030204" pitchFamily="18" charset="0"/>
                <a:ea typeface="Cambria" panose="02040503050406030204" pitchFamily="18" charset="0"/>
              </a:rPr>
              <a:t>Batch Number:</a:t>
            </a:r>
            <a:r>
              <a:rPr lang="en-IN" sz="1800" dirty="0">
                <a:latin typeface="Cambria" panose="02040503050406030204" pitchFamily="18" charset="0"/>
                <a:ea typeface="Cambria" panose="02040503050406030204" pitchFamily="18" charset="0"/>
              </a:rPr>
              <a:t>CSE_62</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694713" y="2513340"/>
            <a:ext cx="5299781"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lvl="0" algn="ctr">
              <a:spcBef>
                <a:spcPts val="400"/>
              </a:spcBef>
              <a:buClr>
                <a:srgbClr val="17365D"/>
              </a:buClr>
              <a:buSzPts val="2000"/>
            </a:pPr>
            <a:r>
              <a:rPr lang="en-IN" sz="2000" b="1" dirty="0"/>
              <a:t>Ms. Rama Bai V</a:t>
            </a:r>
            <a:endParaRPr b="1"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252344070"/>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b="1" u="none" strike="noStrike" cap="none" dirty="0"/>
                        <a:t>20221CSE0727</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t>V BALAJI</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b="1" u="none" strike="noStrike" cap="none" dirty="0"/>
                        <a:t>20221CSE0698</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t>NITHIN REDDY</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b="1" u="none" strike="noStrike" cap="none" dirty="0"/>
                        <a:t>20221CSE0720</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t>SHREYA A</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Computer Science and Engineering</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1800" b="1" dirty="0"/>
              <a:t>Dr. Asif Mohammed </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800" b="1" dirty="0"/>
              <a:t>Dr. Jayavadivel Ravi </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40509" y="283874"/>
            <a:ext cx="10704946"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554182" y="1006764"/>
            <a:ext cx="11185236" cy="5467927"/>
          </a:xfrm>
          <a:prstGeom prst="rect">
            <a:avLst/>
          </a:prstGeom>
          <a:noFill/>
          <a:ln>
            <a:noFill/>
          </a:ln>
        </p:spPr>
        <p:txBody>
          <a:bodyPr spcFirstLastPara="1" wrap="square" lIns="91425" tIns="45700" rIns="91425" bIns="45700" anchor="t" anchorCtr="0">
            <a:normAutofit fontScale="25000" lnSpcReduction="20000"/>
          </a:bodyPr>
          <a:lstStyle/>
          <a:p>
            <a:pPr marL="342900" lvl="0" indent="-190500" algn="just">
              <a:spcBef>
                <a:spcPts val="0"/>
              </a:spcBef>
              <a:buNone/>
            </a:pPr>
            <a:r>
              <a:rPr lang="en-US" sz="9600" dirty="0">
                <a:latin typeface="Cambria" panose="02040503050406030204" pitchFamily="18" charset="0"/>
                <a:ea typeface="Cambria" panose="02040503050406030204" pitchFamily="18" charset="0"/>
              </a:rPr>
              <a:t>Organization: Department of Employment ,Government of Punjab</a:t>
            </a:r>
          </a:p>
          <a:p>
            <a:pPr marL="342900" lvl="0" indent="-190500" algn="just">
              <a:lnSpc>
                <a:spcPct val="200000"/>
              </a:lnSpc>
              <a:spcBef>
                <a:spcPts val="0"/>
              </a:spcBef>
              <a:buNone/>
            </a:pPr>
            <a:r>
              <a:rPr lang="en-US" sz="9600" dirty="0">
                <a:latin typeface="Cambria" panose="02040503050406030204" pitchFamily="18" charset="0"/>
                <a:ea typeface="Cambria" panose="02040503050406030204" pitchFamily="18" charset="0"/>
              </a:rPr>
              <a:t>Category :Software</a:t>
            </a:r>
          </a:p>
          <a:p>
            <a:pPr marL="342900" lvl="0" indent="-190500" algn="just">
              <a:lnSpc>
                <a:spcPct val="200000"/>
              </a:lnSpc>
              <a:spcBef>
                <a:spcPts val="0"/>
              </a:spcBef>
              <a:buNone/>
            </a:pPr>
            <a:r>
              <a:rPr lang="en-US" sz="9600" b="1" dirty="0">
                <a:latin typeface="Cambria" panose="02040503050406030204" pitchFamily="18" charset="0"/>
                <a:ea typeface="Cambria" panose="02040503050406030204" pitchFamily="18" charset="0"/>
              </a:rPr>
              <a:t>Problem Description:</a:t>
            </a:r>
          </a:p>
          <a:p>
            <a:pPr marL="342900" indent="-190500" algn="just">
              <a:lnSpc>
                <a:spcPct val="120000"/>
              </a:lnSpc>
              <a:spcBef>
                <a:spcPts val="0"/>
              </a:spcBef>
              <a:buNone/>
            </a:pPr>
            <a:r>
              <a:rPr lang="en-IN" sz="9600" dirty="0">
                <a:latin typeface="Cambria" panose="02040503050406030204" pitchFamily="18" charset="0"/>
                <a:ea typeface="Cambria" panose="02040503050406030204" pitchFamily="18" charset="0"/>
              </a:rPr>
              <a:t>   The Employment Department at present has a digital platform www.pgrkam.com and its mobile application to provide almost all services offered to job seekers and employers through digital means. The portal has multiple modules like private sector jobs, government jobs, self-employment avenues, foreign jobs, foreign study, counseling, guidance, induction into armed forces, job melas, etc. Currently, when a user visits the portal/app, there is no hand-holding mechanism to help the user get to the part of the digital platform which will resolve his queries. The user is required to navigate across multiple modules on the portal/ app to search for answers.</a:t>
            </a:r>
          </a:p>
          <a:p>
            <a:pPr marL="342900" lvl="0" indent="-190500" algn="just">
              <a:lnSpc>
                <a:spcPct val="200000"/>
              </a:lnSpc>
              <a:spcBef>
                <a:spcPts val="0"/>
              </a:spcBef>
              <a:buNone/>
            </a:pPr>
            <a:endParaRPr lang="en-US" sz="9600"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Git-hub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C1DA7-CFA0-31F8-E3FE-71B0264DE714}"/>
              </a:ext>
            </a:extLst>
          </p:cNvPr>
          <p:cNvSpPr>
            <a:spLocks noGrp="1"/>
          </p:cNvSpPr>
          <p:nvPr>
            <p:ph type="title"/>
          </p:nvPr>
        </p:nvSpPr>
        <p:spPr>
          <a:xfrm>
            <a:off x="812799" y="147782"/>
            <a:ext cx="10455566" cy="711200"/>
          </a:xfrm>
        </p:spPr>
        <p:txBody>
          <a:bodyPr/>
          <a:lstStyle/>
          <a:p>
            <a:br>
              <a:rPr lang="en-IN" dirty="0"/>
            </a:br>
            <a:r>
              <a:rPr lang="en-IN" dirty="0">
                <a:latin typeface="Cambria" panose="02040503050406030204" pitchFamily="18" charset="0"/>
                <a:ea typeface="Cambria" panose="02040503050406030204" pitchFamily="18" charset="0"/>
              </a:rPr>
              <a:t>Objective</a:t>
            </a:r>
          </a:p>
        </p:txBody>
      </p:sp>
      <p:sp>
        <p:nvSpPr>
          <p:cNvPr id="3" name="Text Placeholder 2">
            <a:extLst>
              <a:ext uri="{FF2B5EF4-FFF2-40B4-BE49-F238E27FC236}">
                <a16:creationId xmlns:a16="http://schemas.microsoft.com/office/drawing/2014/main" id="{0D49F188-9227-FA4B-CDC5-D8547D18A402}"/>
              </a:ext>
            </a:extLst>
          </p:cNvPr>
          <p:cNvSpPr>
            <a:spLocks noGrp="1"/>
          </p:cNvSpPr>
          <p:nvPr>
            <p:ph type="body" idx="1"/>
          </p:nvPr>
        </p:nvSpPr>
        <p:spPr>
          <a:xfrm>
            <a:off x="812799" y="979054"/>
            <a:ext cx="10797309" cy="5315527"/>
          </a:xfrm>
        </p:spPr>
        <p:txBody>
          <a:bodyPr>
            <a:normAutofit/>
          </a:bodyPr>
          <a:lstStyle/>
          <a:p>
            <a:pPr lvl="0"/>
            <a:r>
              <a:rPr lang="en-IN" b="1" dirty="0">
                <a:latin typeface="Cambria" panose="02040503050406030204" pitchFamily="18" charset="0"/>
                <a:ea typeface="Cambria" panose="02040503050406030204" pitchFamily="18" charset="0"/>
              </a:rPr>
              <a:t>Develop a multilingual smart chatbot</a:t>
            </a:r>
            <a:r>
              <a:rPr lang="en-IN" dirty="0">
                <a:latin typeface="Cambria" panose="02040503050406030204" pitchFamily="18" charset="0"/>
                <a:ea typeface="Cambria" panose="02040503050406030204" pitchFamily="18" charset="0"/>
              </a:rPr>
              <a:t> leveraging Large Language Models (LLMs) such as GPT-3, to provide intelligent, context-aware assistance to users of the PGRKAM digital platform.</a:t>
            </a:r>
          </a:p>
          <a:p>
            <a:pPr lvl="0"/>
            <a:r>
              <a:rPr lang="en-IN" b="1" dirty="0">
                <a:latin typeface="Cambria" panose="02040503050406030204" pitchFamily="18" charset="0"/>
                <a:ea typeface="Cambria" panose="02040503050406030204" pitchFamily="18" charset="0"/>
              </a:rPr>
              <a:t>Enable both text and voice query handling</a:t>
            </a:r>
            <a:r>
              <a:rPr lang="en-IN" dirty="0">
                <a:latin typeface="Cambria" panose="02040503050406030204" pitchFamily="18" charset="0"/>
                <a:ea typeface="Cambria" panose="02040503050406030204" pitchFamily="18" charset="0"/>
              </a:rPr>
              <a:t> in Punjabi, Hindi, and English, with a focus on domains including job search, skill development, and foreign counseling.</a:t>
            </a:r>
          </a:p>
          <a:p>
            <a:pPr lvl="0"/>
            <a:r>
              <a:rPr lang="en-IN" b="1" dirty="0">
                <a:latin typeface="Cambria" panose="02040503050406030204" pitchFamily="18" charset="0"/>
                <a:ea typeface="Cambria" panose="02040503050406030204" pitchFamily="18" charset="0"/>
              </a:rPr>
              <a:t>Incorporate personalized job recommendations</a:t>
            </a:r>
            <a:r>
              <a:rPr lang="en-IN" dirty="0">
                <a:latin typeface="Cambria" panose="02040503050406030204" pitchFamily="18" charset="0"/>
                <a:ea typeface="Cambria" panose="02040503050406030204" pitchFamily="18" charset="0"/>
              </a:rPr>
              <a:t> by analyzing and utilizing each user’s historical interactions and stated preferences.</a:t>
            </a:r>
          </a:p>
          <a:p>
            <a:pPr lvl="0"/>
            <a:r>
              <a:rPr lang="en-IN" b="1" dirty="0">
                <a:latin typeface="Cambria" panose="02040503050406030204" pitchFamily="18" charset="0"/>
                <a:ea typeface="Cambria" panose="02040503050406030204" pitchFamily="18" charset="0"/>
              </a:rPr>
              <a:t>Enhance accessibility</a:t>
            </a:r>
            <a:r>
              <a:rPr lang="en-IN" dirty="0">
                <a:latin typeface="Cambria" panose="02040503050406030204" pitchFamily="18" charset="0"/>
                <a:ea typeface="Cambria" panose="02040503050406030204" pitchFamily="18" charset="0"/>
              </a:rPr>
              <a:t> through the integration of a multilingual screen-reading module to support visually impaired users.</a:t>
            </a:r>
          </a:p>
          <a:p>
            <a:pPr lvl="0"/>
            <a:r>
              <a:rPr lang="en-IN" b="1" dirty="0">
                <a:latin typeface="Cambria" panose="02040503050406030204" pitchFamily="18" charset="0"/>
                <a:ea typeface="Cambria" panose="02040503050406030204" pitchFamily="18" charset="0"/>
              </a:rPr>
              <a:t>Ensure cross-platform compatibility</a:t>
            </a:r>
            <a:r>
              <a:rPr lang="en-IN" dirty="0">
                <a:latin typeface="Cambria" panose="02040503050406030204" pitchFamily="18" charset="0"/>
                <a:ea typeface="Cambria" panose="02040503050406030204" pitchFamily="18" charset="0"/>
              </a:rPr>
              <a:t>, allowing users to chat, read, or listen to responses seamlessly on both smartphones and laptops, thereby reducing navigation time and effort.</a:t>
            </a:r>
          </a:p>
          <a:p>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63496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4FFA0-B844-BBEA-7425-777FE39DA897}"/>
              </a:ext>
            </a:extLst>
          </p:cNvPr>
          <p:cNvSpPr>
            <a:spLocks noGrp="1"/>
          </p:cNvSpPr>
          <p:nvPr>
            <p:ph type="title"/>
          </p:nvPr>
        </p:nvSpPr>
        <p:spPr>
          <a:xfrm>
            <a:off x="812800" y="357765"/>
            <a:ext cx="10668000" cy="487500"/>
          </a:xfrm>
        </p:spPr>
        <p:txBody>
          <a:bodyPr/>
          <a:lstStyle/>
          <a:p>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rPr>
              <a:t>Background and Related  work</a:t>
            </a:r>
            <a:br>
              <a:rPr lang="en-IN" dirty="0"/>
            </a:br>
            <a:endParaRPr lang="en-IN" dirty="0"/>
          </a:p>
        </p:txBody>
      </p:sp>
      <p:sp>
        <p:nvSpPr>
          <p:cNvPr id="3" name="Text Placeholder 2">
            <a:extLst>
              <a:ext uri="{FF2B5EF4-FFF2-40B4-BE49-F238E27FC236}">
                <a16:creationId xmlns:a16="http://schemas.microsoft.com/office/drawing/2014/main" id="{E2469DFC-4870-8789-7AE5-A47D213236C0}"/>
              </a:ext>
            </a:extLst>
          </p:cNvPr>
          <p:cNvSpPr>
            <a:spLocks noGrp="1"/>
          </p:cNvSpPr>
          <p:nvPr>
            <p:ph type="body" idx="1"/>
          </p:nvPr>
        </p:nvSpPr>
        <p:spPr>
          <a:xfrm>
            <a:off x="812799" y="845266"/>
            <a:ext cx="10741891" cy="5453934"/>
          </a:xfrm>
        </p:spPr>
        <p:txBody>
          <a:bodyPr>
            <a:normAutofit/>
          </a:bodyPr>
          <a:lstStyle/>
          <a:p>
            <a:pPr marL="76200" lvl="0" indent="0">
              <a:buNone/>
            </a:pPr>
            <a:endParaRPr lang="en-IN" dirty="0">
              <a:latin typeface="Cambria" panose="02040503050406030204" pitchFamily="18" charset="0"/>
              <a:ea typeface="Cambria" panose="02040503050406030204" pitchFamily="18" charset="0"/>
            </a:endParaRPr>
          </a:p>
          <a:p>
            <a:pPr lvl="0"/>
            <a:r>
              <a:rPr lang="en-IN" dirty="0">
                <a:latin typeface="Cambria" panose="02040503050406030204" pitchFamily="18" charset="0"/>
                <a:ea typeface="Cambria" panose="02040503050406030204" pitchFamily="18" charset="0"/>
              </a:rPr>
              <a:t>Large Language Models (LLMs) like GPT-3 have advanced conversational AI, enabling context-aware and human-like interactions.</a:t>
            </a:r>
          </a:p>
          <a:p>
            <a:pPr lvl="0"/>
            <a:r>
              <a:rPr lang="en-IN" dirty="0">
                <a:latin typeface="Cambria" panose="02040503050406030204" pitchFamily="18" charset="0"/>
                <a:ea typeface="Cambria" panose="02040503050406030204" pitchFamily="18" charset="0"/>
              </a:rPr>
              <a:t>AI chatbots are increasingly used in employment services to improve job search efficiency and provide personalized recommendations.</a:t>
            </a:r>
          </a:p>
          <a:p>
            <a:pPr lvl="0"/>
            <a:r>
              <a:rPr lang="en-IN" dirty="0">
                <a:latin typeface="Cambria" panose="02040503050406030204" pitchFamily="18" charset="0"/>
                <a:ea typeface="Cambria" panose="02040503050406030204" pitchFamily="18" charset="0"/>
              </a:rPr>
              <a:t>Multilingual conversational agents enhance accessibility for linguistically diverse populations and individuals with literacy challenges.</a:t>
            </a:r>
          </a:p>
          <a:p>
            <a:pPr lvl="0"/>
            <a:r>
              <a:rPr lang="en-IN" dirty="0">
                <a:latin typeface="Cambria" panose="02040503050406030204" pitchFamily="18" charset="0"/>
                <a:ea typeface="Cambria" panose="02040503050406030204" pitchFamily="18" charset="0"/>
              </a:rPr>
              <a:t>Existing government job portals in India do not integrate multilingual, voice-enabled AI assistants tailored for regional languages.</a:t>
            </a:r>
          </a:p>
          <a:p>
            <a:pPr lvl="0"/>
            <a:r>
              <a:rPr lang="en-IN" dirty="0">
                <a:latin typeface="Cambria" panose="02040503050406030204" pitchFamily="18" charset="0"/>
                <a:ea typeface="Cambria" panose="02040503050406030204" pitchFamily="18" charset="0"/>
              </a:rPr>
              <a:t>The identified gap supports the development of a </a:t>
            </a:r>
            <a:r>
              <a:rPr lang="en-IN" b="1" dirty="0">
                <a:latin typeface="Cambria" panose="02040503050406030204" pitchFamily="18" charset="0"/>
                <a:ea typeface="Cambria" panose="02040503050406030204" pitchFamily="18" charset="0"/>
              </a:rPr>
              <a:t>PGRKAM Smart Chatbot</a:t>
            </a:r>
            <a:r>
              <a:rPr lang="en-IN" dirty="0">
                <a:latin typeface="Cambria" panose="02040503050406030204" pitchFamily="18" charset="0"/>
                <a:ea typeface="Cambria" panose="02040503050406030204" pitchFamily="18" charset="0"/>
              </a:rPr>
              <a:t> to offer intelligent, accessible, and personalized employment assistance.</a:t>
            </a:r>
          </a:p>
          <a:p>
            <a:endParaRPr lang="en-IN" dirty="0"/>
          </a:p>
        </p:txBody>
      </p:sp>
    </p:spTree>
    <p:extLst>
      <p:ext uri="{BB962C8B-B14F-4D97-AF65-F5344CB8AC3E}">
        <p14:creationId xmlns:p14="http://schemas.microsoft.com/office/powerpoint/2010/main" val="4134067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Technology Stack Components:</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B1699C13-DF69-F0CD-B0B5-AAD40B31B357}"/>
              </a:ext>
            </a:extLst>
          </p:cNvPr>
          <p:cNvSpPr>
            <a:spLocks noChangeArrowheads="1"/>
          </p:cNvSpPr>
          <p:nvPr/>
        </p:nvSpPr>
        <p:spPr bwMode="auto">
          <a:xfrm>
            <a:off x="947451" y="1988266"/>
            <a:ext cx="5061001"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Frontend:</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HTML5, CSS3, JavaScript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Backend:</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Java (Spring Boot / Servlets)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Database:</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MySQL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Server:</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Apache Tomcat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Version Control:</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Git, GitHub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Tools:</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VS Code, Eclipse/IntelliJ</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Build Tool:</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Maven</a:t>
            </a:r>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E9408-DC3A-2DF7-DEF2-DFF5F620B739}"/>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Innovation and Novel Contributions</a:t>
            </a:r>
          </a:p>
        </p:txBody>
      </p:sp>
      <p:sp>
        <p:nvSpPr>
          <p:cNvPr id="3" name="Text Placeholder 2">
            <a:extLst>
              <a:ext uri="{FF2B5EF4-FFF2-40B4-BE49-F238E27FC236}">
                <a16:creationId xmlns:a16="http://schemas.microsoft.com/office/drawing/2014/main" id="{B6FD2D36-2FC6-D90B-40D3-BB3E609E9FD9}"/>
              </a:ext>
            </a:extLst>
          </p:cNvPr>
          <p:cNvSpPr>
            <a:spLocks noGrp="1"/>
          </p:cNvSpPr>
          <p:nvPr>
            <p:ph type="body" idx="1"/>
          </p:nvPr>
        </p:nvSpPr>
        <p:spPr/>
        <p:txBody>
          <a:bodyPr/>
          <a:lstStyle/>
          <a:p>
            <a:pPr lvl="0"/>
            <a:r>
              <a:rPr lang="en-IN" b="1" dirty="0">
                <a:latin typeface="Cambria" panose="02040503050406030204" pitchFamily="18" charset="0"/>
                <a:ea typeface="Cambria" panose="02040503050406030204" pitchFamily="18" charset="0"/>
              </a:rPr>
              <a:t>Multilingual Conversational Interface:</a:t>
            </a:r>
            <a:r>
              <a:rPr lang="en-IN" dirty="0">
                <a:latin typeface="Cambria" panose="02040503050406030204" pitchFamily="18" charset="0"/>
                <a:ea typeface="Cambria" panose="02040503050406030204" pitchFamily="18" charset="0"/>
              </a:rPr>
              <a:t> Supports Punjabi, Hindi, and English for wider regional accessibility.</a:t>
            </a:r>
          </a:p>
          <a:p>
            <a:pPr lvl="0"/>
            <a:r>
              <a:rPr lang="en-IN" b="1" dirty="0">
                <a:latin typeface="Cambria" panose="02040503050406030204" pitchFamily="18" charset="0"/>
                <a:ea typeface="Cambria" panose="02040503050406030204" pitchFamily="18" charset="0"/>
              </a:rPr>
              <a:t>Voice-Enabled Interaction:</a:t>
            </a:r>
            <a:r>
              <a:rPr lang="en-IN" dirty="0">
                <a:latin typeface="Cambria" panose="02040503050406030204" pitchFamily="18" charset="0"/>
                <a:ea typeface="Cambria" panose="02040503050406030204" pitchFamily="18" charset="0"/>
              </a:rPr>
              <a:t> Facilitates both speech input and audio output for improved usability.</a:t>
            </a:r>
          </a:p>
          <a:p>
            <a:pPr lvl="0"/>
            <a:r>
              <a:rPr lang="en-IN" b="1" dirty="0">
                <a:latin typeface="Cambria" panose="02040503050406030204" pitchFamily="18" charset="0"/>
                <a:ea typeface="Cambria" panose="02040503050406030204" pitchFamily="18" charset="0"/>
              </a:rPr>
              <a:t>Personalized Recommendations:</a:t>
            </a:r>
            <a:r>
              <a:rPr lang="en-IN" dirty="0">
                <a:latin typeface="Cambria" panose="02040503050406030204" pitchFamily="18" charset="0"/>
                <a:ea typeface="Cambria" panose="02040503050406030204" pitchFamily="18" charset="0"/>
              </a:rPr>
              <a:t> Utilizes user history and preferences to deliver targeted job and skill suggestions.</a:t>
            </a:r>
          </a:p>
          <a:p>
            <a:pPr lvl="0"/>
            <a:r>
              <a:rPr lang="en-IN" b="1" dirty="0">
                <a:latin typeface="Cambria" panose="02040503050406030204" pitchFamily="18" charset="0"/>
                <a:ea typeface="Cambria" panose="02040503050406030204" pitchFamily="18" charset="0"/>
              </a:rPr>
              <a:t>Accessibility Integration:</a:t>
            </a:r>
            <a:r>
              <a:rPr lang="en-IN" dirty="0">
                <a:latin typeface="Cambria" panose="02040503050406030204" pitchFamily="18" charset="0"/>
                <a:ea typeface="Cambria" panose="02040503050406030204" pitchFamily="18" charset="0"/>
              </a:rPr>
              <a:t> Incorporates a screen-reading module to assist visually impaired users.</a:t>
            </a:r>
          </a:p>
          <a:p>
            <a:pPr lvl="0"/>
            <a:r>
              <a:rPr lang="en-IN" b="1" dirty="0">
                <a:latin typeface="Cambria" panose="02040503050406030204" pitchFamily="18" charset="0"/>
                <a:ea typeface="Cambria" panose="02040503050406030204" pitchFamily="18" charset="0"/>
              </a:rPr>
              <a:t>Seamless Platform Integration:</a:t>
            </a:r>
            <a:r>
              <a:rPr lang="en-IN" dirty="0">
                <a:latin typeface="Cambria" panose="02040503050406030204" pitchFamily="18" charset="0"/>
                <a:ea typeface="Cambria" panose="02040503050406030204" pitchFamily="18" charset="0"/>
              </a:rPr>
              <a:t> Designed to work across both web and mobile versions of the PGRKAM platform.</a:t>
            </a:r>
          </a:p>
          <a:p>
            <a:pPr lvl="0"/>
            <a:r>
              <a:rPr lang="en-IN" b="1" dirty="0">
                <a:latin typeface="Cambria" panose="02040503050406030204" pitchFamily="18" charset="0"/>
                <a:ea typeface="Cambria" panose="02040503050406030204" pitchFamily="18" charset="0"/>
              </a:rPr>
              <a:t>Context-Aware Navigation:</a:t>
            </a:r>
            <a:r>
              <a:rPr lang="en-IN" dirty="0">
                <a:latin typeface="Cambria" panose="02040503050406030204" pitchFamily="18" charset="0"/>
                <a:ea typeface="Cambria" panose="02040503050406030204" pitchFamily="18" charset="0"/>
              </a:rPr>
              <a:t> Directs users to the most relevant services without manual browsing.</a:t>
            </a:r>
          </a:p>
          <a:p>
            <a:endParaRPr lang="en-IN" dirty="0"/>
          </a:p>
        </p:txBody>
      </p:sp>
    </p:spTree>
    <p:extLst>
      <p:ext uri="{BB962C8B-B14F-4D97-AF65-F5344CB8AC3E}">
        <p14:creationId xmlns:p14="http://schemas.microsoft.com/office/powerpoint/2010/main" val="1868603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2633030"/>
            <a:ext cx="10668000" cy="268826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None/>
            </a:pPr>
            <a:r>
              <a:rPr lang="en-US" b="1" dirty="0">
                <a:solidFill>
                  <a:schemeClr val="accent2">
                    <a:lumMod val="75000"/>
                  </a:schemeClr>
                </a:solidFill>
                <a:latin typeface="Cambria" panose="02040503050406030204" pitchFamily="18" charset="0"/>
                <a:ea typeface="Cambria" panose="02040503050406030204" pitchFamily="18" charset="0"/>
              </a:rPr>
              <a:t>GithubLink: </a:t>
            </a:r>
            <a:r>
              <a:rPr lang="en-IN" sz="2000" b="1" u="sng" dirty="0">
                <a:latin typeface="Cambria" panose="02040503050406030204" pitchFamily="18" charset="0"/>
                <a:ea typeface="Cambria" panose="02040503050406030204" pitchFamily="18" charset="0"/>
                <a:hlinkClick r:id="rId3"/>
              </a:rPr>
              <a:t>https://vbalaji2004-pu.github.io/PGRKAM_CapstoneProject_CSE_62/</a:t>
            </a:r>
            <a:endParaRPr lang="en-IN" sz="2000"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sz="2000"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942109"/>
            <a:ext cx="10668000" cy="5153891"/>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Software Requirements: </a:t>
            </a:r>
          </a:p>
          <a:p>
            <a:pPr lvl="0"/>
            <a:r>
              <a:rPr lang="en-IN" dirty="0">
                <a:latin typeface="Cambria" panose="02040503050406030204" pitchFamily="18" charset="0"/>
                <a:ea typeface="Cambria" panose="02040503050406030204" pitchFamily="18" charset="0"/>
              </a:rPr>
              <a:t>The current PGRKAM platform requires users to navigate multiple modules to locate relevant services or information.</a:t>
            </a:r>
          </a:p>
          <a:p>
            <a:pPr lvl="0"/>
            <a:endParaRPr lang="en-IN" dirty="0">
              <a:latin typeface="Cambria" panose="02040503050406030204" pitchFamily="18" charset="0"/>
              <a:ea typeface="Cambria" panose="02040503050406030204" pitchFamily="18" charset="0"/>
            </a:endParaRPr>
          </a:p>
          <a:p>
            <a:pPr lvl="0"/>
            <a:r>
              <a:rPr lang="en-IN" dirty="0">
                <a:latin typeface="Cambria" panose="02040503050406030204" pitchFamily="18" charset="0"/>
                <a:ea typeface="Cambria" panose="02040503050406030204" pitchFamily="18" charset="0"/>
              </a:rPr>
              <a:t>This results in increased time consumption, reduced efficiency, and a suboptimal user experience.</a:t>
            </a:r>
          </a:p>
          <a:p>
            <a:pPr lvl="0"/>
            <a:endParaRPr lang="en-IN" dirty="0">
              <a:latin typeface="Cambria" panose="02040503050406030204" pitchFamily="18" charset="0"/>
              <a:ea typeface="Cambria" panose="02040503050406030204" pitchFamily="18" charset="0"/>
            </a:endParaRPr>
          </a:p>
          <a:p>
            <a:pPr lvl="0"/>
            <a:r>
              <a:rPr lang="en-IN" dirty="0">
                <a:latin typeface="Cambria" panose="02040503050406030204" pitchFamily="18" charset="0"/>
                <a:ea typeface="Cambria" panose="02040503050406030204" pitchFamily="18" charset="0"/>
              </a:rPr>
              <a:t>The absence of an intelligent guidance mechanism limits accessibility for individuals with limited digital literacy or visual impairments.</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lvl="0"/>
            <a:r>
              <a:rPr lang="en-IN" dirty="0">
                <a:latin typeface="Cambria" panose="02040503050406030204" pitchFamily="18" charset="0"/>
                <a:ea typeface="Cambria" panose="02040503050406030204" pitchFamily="18" charset="0"/>
              </a:rPr>
              <a:t>There is a clear requirement for an integrated, context-aware system to streamline user interaction with the platform.</a:t>
            </a:r>
          </a:p>
          <a:p>
            <a:pPr lvl="0"/>
            <a:endParaRPr lang="en-IN" dirty="0">
              <a:latin typeface="Cambria" panose="02040503050406030204" pitchFamily="18" charset="0"/>
              <a:ea typeface="Cambria" panose="02040503050406030204" pitchFamily="18" charset="0"/>
            </a:endParaRPr>
          </a:p>
          <a:p>
            <a:pPr lvl="0"/>
            <a:r>
              <a:rPr lang="en-IN" dirty="0">
                <a:latin typeface="Cambria" panose="02040503050406030204" pitchFamily="18" charset="0"/>
                <a:ea typeface="Cambria" panose="02040503050406030204" pitchFamily="18" charset="0"/>
              </a:rPr>
              <a:t>A multilingual, voice-enabled AI chatbot with personalization capabilities can address these limitations effectively.</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2" name="Picture 1">
            <a:extLst>
              <a:ext uri="{FF2B5EF4-FFF2-40B4-BE49-F238E27FC236}">
                <a16:creationId xmlns:a16="http://schemas.microsoft.com/office/drawing/2014/main" id="{A7C53469-9F25-6A61-D1DB-4E50B693CC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7637" y="1143000"/>
            <a:ext cx="10701563" cy="4953000"/>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762000" y="975159"/>
            <a:ext cx="10668000" cy="5153892"/>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dirty="0">
              <a:latin typeface="Cambria" panose="02040503050406030204" pitchFamily="18" charset="0"/>
              <a:ea typeface="Cambria" panose="02040503050406030204" pitchFamily="18" charset="0"/>
            </a:endParaRPr>
          </a:p>
          <a:p>
            <a:r>
              <a:rPr lang="en-IN" b="1" dirty="0">
                <a:latin typeface="Cambria" panose="02040503050406030204" pitchFamily="18" charset="0"/>
                <a:ea typeface="Cambria" panose="02040503050406030204" pitchFamily="18" charset="0"/>
              </a:rPr>
              <a:t>[1] T. B. Brown </a:t>
            </a:r>
            <a:r>
              <a:rPr lang="en-IN" b="1" i="1" dirty="0">
                <a:latin typeface="Cambria" panose="02040503050406030204" pitchFamily="18" charset="0"/>
                <a:ea typeface="Cambria" panose="02040503050406030204" pitchFamily="18" charset="0"/>
              </a:rPr>
              <a:t>et al.</a:t>
            </a:r>
            <a:r>
              <a:rPr lang="en-IN" b="1" dirty="0">
                <a:latin typeface="Cambria" panose="02040503050406030204" pitchFamily="18" charset="0"/>
                <a:ea typeface="Cambria" panose="02040503050406030204" pitchFamily="18" charset="0"/>
              </a:rPr>
              <a:t>, “Language Models are Few-Shot Learners,” </a:t>
            </a:r>
            <a:r>
              <a:rPr lang="en-IN" b="1" i="1" dirty="0">
                <a:latin typeface="Cambria" panose="02040503050406030204" pitchFamily="18" charset="0"/>
                <a:ea typeface="Cambria" panose="02040503050406030204" pitchFamily="18" charset="0"/>
              </a:rPr>
              <a:t>NeurIPS</a:t>
            </a:r>
            <a:r>
              <a:rPr lang="en-IN" b="1" dirty="0">
                <a:latin typeface="Cambria" panose="02040503050406030204" pitchFamily="18" charset="0"/>
                <a:ea typeface="Cambria" panose="02040503050406030204" pitchFamily="18" charset="0"/>
              </a:rPr>
              <a:t>, 2020. </a:t>
            </a:r>
            <a:r>
              <a:rPr lang="en-IN" b="1" u="sng" dirty="0">
                <a:latin typeface="Cambria" panose="02040503050406030204" pitchFamily="18" charset="0"/>
                <a:ea typeface="Cambria" panose="02040503050406030204" pitchFamily="18" charset="0"/>
                <a:hlinkClick r:id="rId3"/>
              </a:rPr>
              <a:t>https://proceedings.neurips.cc/paper/2020/file/1457c0d6bfcb4967418bfb8ac142f64a-Paper.pdfhttps://www.mdpi.com/1424-8220/21/24/8448https://proceedings.neurips.cc/paper/2020/file/1457c0d6bfcb4967418bfb8ac142f64a-Paper.pdf</a:t>
            </a:r>
            <a:endParaRPr lang="en-IN" b="1" u="sng" dirty="0">
              <a:latin typeface="Cambria" panose="02040503050406030204" pitchFamily="18" charset="0"/>
              <a:ea typeface="Cambria" panose="02040503050406030204" pitchFamily="18" charset="0"/>
            </a:endParaRPr>
          </a:p>
          <a:p>
            <a:endParaRPr lang="en-IN" sz="1600" dirty="0">
              <a:latin typeface="Cambria" panose="02040503050406030204" pitchFamily="18" charset="0"/>
              <a:ea typeface="Cambria" panose="02040503050406030204" pitchFamily="18" charset="0"/>
            </a:endParaRPr>
          </a:p>
          <a:p>
            <a:endParaRPr lang="en-IN" sz="1600" dirty="0">
              <a:latin typeface="Cambria" panose="02040503050406030204" pitchFamily="18" charset="0"/>
              <a:ea typeface="Cambria" panose="02040503050406030204" pitchFamily="18" charset="0"/>
            </a:endParaRPr>
          </a:p>
          <a:p>
            <a:r>
              <a:rPr lang="en-IN" b="1" dirty="0">
                <a:latin typeface="Cambria" panose="02040503050406030204" pitchFamily="18" charset="0"/>
                <a:ea typeface="Cambria" panose="02040503050406030204" pitchFamily="18" charset="0"/>
              </a:rPr>
              <a:t>[2] M. Allouch, A. Azaria, and R. Azoulay, “Conversational Agents: Goals, Technologies, Vision and Challenges,” </a:t>
            </a:r>
            <a:r>
              <a:rPr lang="en-IN" b="1" i="1" dirty="0">
                <a:latin typeface="Cambria" panose="02040503050406030204" pitchFamily="18" charset="0"/>
                <a:ea typeface="Cambria" panose="02040503050406030204" pitchFamily="18" charset="0"/>
              </a:rPr>
              <a:t>Sensors</a:t>
            </a:r>
            <a:r>
              <a:rPr lang="en-IN" b="1" dirty="0">
                <a:latin typeface="Cambria" panose="02040503050406030204" pitchFamily="18" charset="0"/>
                <a:ea typeface="Cambria" panose="02040503050406030204" pitchFamily="18" charset="0"/>
              </a:rPr>
              <a:t>, vol. 21, no. 24, art. 8448, 2021. </a:t>
            </a:r>
            <a:endParaRPr lang="en-IN" sz="1600" dirty="0">
              <a:latin typeface="Cambria" panose="02040503050406030204" pitchFamily="18" charset="0"/>
              <a:ea typeface="Cambria" panose="02040503050406030204" pitchFamily="18" charset="0"/>
            </a:endParaRPr>
          </a:p>
          <a:p>
            <a:pPr marL="76200" indent="0">
              <a:buNone/>
            </a:pPr>
            <a:r>
              <a:rPr lang="en-IN" b="1" u="sng" dirty="0">
                <a:latin typeface="Cambria" panose="02040503050406030204" pitchFamily="18" charset="0"/>
                <a:ea typeface="Cambria" panose="02040503050406030204" pitchFamily="18" charset="0"/>
                <a:hlinkClick r:id="rId4"/>
              </a:rPr>
              <a:t>    https://www.mdpi.com/1424-8220/21/24/8448</a:t>
            </a:r>
            <a:endParaRPr lang="en-IN" sz="1600"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FADB6-81C7-36F7-9339-7F8A04868D53}"/>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References (IEEE Paper format)</a:t>
            </a:r>
            <a:endParaRPr lang="en-IN" dirty="0"/>
          </a:p>
        </p:txBody>
      </p:sp>
      <p:sp>
        <p:nvSpPr>
          <p:cNvPr id="3" name="Text Placeholder 2">
            <a:extLst>
              <a:ext uri="{FF2B5EF4-FFF2-40B4-BE49-F238E27FC236}">
                <a16:creationId xmlns:a16="http://schemas.microsoft.com/office/drawing/2014/main" id="{B327127E-3F0F-D872-08CB-ABC15B058A0D}"/>
              </a:ext>
            </a:extLst>
          </p:cNvPr>
          <p:cNvSpPr>
            <a:spLocks noGrp="1"/>
          </p:cNvSpPr>
          <p:nvPr>
            <p:ph type="body" idx="1"/>
          </p:nvPr>
        </p:nvSpPr>
        <p:spPr>
          <a:xfrm>
            <a:off x="628072" y="1562948"/>
            <a:ext cx="11037455" cy="4573447"/>
          </a:xfrm>
        </p:spPr>
        <p:txBody>
          <a:bodyPr/>
          <a:lstStyle/>
          <a:p>
            <a:r>
              <a:rPr lang="en-IN" b="1" dirty="0">
                <a:latin typeface="Cambria" panose="02040503050406030204" pitchFamily="18" charset="0"/>
                <a:ea typeface="Cambria" panose="02040503050406030204" pitchFamily="18" charset="0"/>
              </a:rPr>
              <a:t>[3] S. Kusal </a:t>
            </a:r>
            <a:r>
              <a:rPr lang="en-IN" b="1" i="1" dirty="0">
                <a:latin typeface="Cambria" panose="02040503050406030204" pitchFamily="18" charset="0"/>
                <a:ea typeface="Cambria" panose="02040503050406030204" pitchFamily="18" charset="0"/>
              </a:rPr>
              <a:t>et al.</a:t>
            </a:r>
            <a:r>
              <a:rPr lang="en-IN" b="1" dirty="0">
                <a:latin typeface="Cambria" panose="02040503050406030204" pitchFamily="18" charset="0"/>
                <a:ea typeface="Cambria" panose="02040503050406030204" pitchFamily="18" charset="0"/>
              </a:rPr>
              <a:t>, “AI-Based Conversational Agents: A Scoping Review From Technologies to Future Directions,” </a:t>
            </a:r>
            <a:r>
              <a:rPr lang="en-IN" b="1" i="1" dirty="0">
                <a:latin typeface="Cambria" panose="02040503050406030204" pitchFamily="18" charset="0"/>
                <a:ea typeface="Cambria" panose="02040503050406030204" pitchFamily="18" charset="0"/>
              </a:rPr>
              <a:t>IEEE Access</a:t>
            </a:r>
            <a:r>
              <a:rPr lang="en-IN" b="1" dirty="0">
                <a:latin typeface="Cambria" panose="02040503050406030204" pitchFamily="18" charset="0"/>
                <a:ea typeface="Cambria" panose="02040503050406030204" pitchFamily="18" charset="0"/>
              </a:rPr>
              <a:t>, 2022.</a:t>
            </a:r>
            <a:r>
              <a:rPr lang="en-IN" b="1" u="sng" dirty="0">
                <a:latin typeface="Cambria" panose="02040503050406030204" pitchFamily="18" charset="0"/>
                <a:ea typeface="Cambria" panose="02040503050406030204" pitchFamily="18" charset="0"/>
                <a:hlinkClick r:id="rId2"/>
              </a:rPr>
              <a:t> </a:t>
            </a:r>
            <a:r>
              <a:rPr lang="en-IN" b="1" u="sng" dirty="0">
                <a:latin typeface="Cambria" panose="02040503050406030204" pitchFamily="18" charset="0"/>
                <a:ea typeface="Cambria" panose="02040503050406030204" pitchFamily="18" charset="0"/>
                <a:hlinkClick r:id="rId3"/>
              </a:rPr>
              <a:t>https://doi.org/10.1109/ACCESS.2022.3201144</a:t>
            </a:r>
            <a:endParaRPr lang="en-IN" b="1" u="sng" dirty="0">
              <a:latin typeface="Cambria" panose="02040503050406030204" pitchFamily="18" charset="0"/>
              <a:ea typeface="Cambria" panose="02040503050406030204" pitchFamily="18" charset="0"/>
            </a:endParaRPr>
          </a:p>
          <a:p>
            <a:endParaRPr lang="en-IN" sz="1600" dirty="0">
              <a:latin typeface="Cambria" panose="02040503050406030204" pitchFamily="18" charset="0"/>
              <a:ea typeface="Cambria" panose="02040503050406030204" pitchFamily="18" charset="0"/>
            </a:endParaRPr>
          </a:p>
          <a:p>
            <a:r>
              <a:rPr lang="en-IN" b="1" dirty="0">
                <a:latin typeface="Cambria" panose="02040503050406030204" pitchFamily="18" charset="0"/>
                <a:ea typeface="Cambria" panose="02040503050406030204" pitchFamily="18" charset="0"/>
              </a:rPr>
              <a:t>[4] N. M. Radziwill and M. C. Benton, “Evaluating Quality of Chatbots and Intelligent Conversational Agents,” </a:t>
            </a:r>
            <a:r>
              <a:rPr lang="en-IN" b="1" i="1" dirty="0">
                <a:latin typeface="Cambria" panose="02040503050406030204" pitchFamily="18" charset="0"/>
                <a:ea typeface="Cambria" panose="02040503050406030204" pitchFamily="18" charset="0"/>
              </a:rPr>
              <a:t>arXiv preprint</a:t>
            </a:r>
            <a:r>
              <a:rPr lang="en-IN" b="1" dirty="0">
                <a:latin typeface="Cambria" panose="02040503050406030204" pitchFamily="18" charset="0"/>
                <a:ea typeface="Cambria" panose="02040503050406030204" pitchFamily="18" charset="0"/>
              </a:rPr>
              <a:t>, 2017. </a:t>
            </a:r>
            <a:r>
              <a:rPr lang="en-IN" b="1" u="sng" dirty="0">
                <a:latin typeface="Cambria" panose="02040503050406030204" pitchFamily="18" charset="0"/>
                <a:ea typeface="Cambria" panose="02040503050406030204" pitchFamily="18" charset="0"/>
                <a:hlinkClick r:id="rId4"/>
              </a:rPr>
              <a:t>https://arxiv.org/abs/1704.04579</a:t>
            </a:r>
            <a:endParaRPr lang="en-IN" b="1" u="sng" dirty="0">
              <a:latin typeface="Cambria" panose="02040503050406030204" pitchFamily="18" charset="0"/>
              <a:ea typeface="Cambria" panose="02040503050406030204" pitchFamily="18" charset="0"/>
            </a:endParaRPr>
          </a:p>
          <a:p>
            <a:endParaRPr lang="en-IN" sz="1600" dirty="0">
              <a:latin typeface="Cambria" panose="02040503050406030204" pitchFamily="18" charset="0"/>
              <a:ea typeface="Cambria" panose="02040503050406030204" pitchFamily="18" charset="0"/>
            </a:endParaRPr>
          </a:p>
          <a:p>
            <a:r>
              <a:rPr lang="en-IN" b="1" dirty="0">
                <a:latin typeface="Cambria" panose="02040503050406030204" pitchFamily="18" charset="0"/>
                <a:ea typeface="Cambria" panose="02040503050406030204" pitchFamily="18" charset="0"/>
              </a:rPr>
              <a:t>[5] J. Gao, M. Galley, and L. Li, “Neural Approaches to Conversational AI,” </a:t>
            </a:r>
            <a:r>
              <a:rPr lang="en-IN" b="1" i="1" dirty="0">
                <a:latin typeface="Cambria" panose="02040503050406030204" pitchFamily="18" charset="0"/>
                <a:ea typeface="Cambria" panose="02040503050406030204" pitchFamily="18" charset="0"/>
              </a:rPr>
              <a:t>arXiv preprint</a:t>
            </a:r>
            <a:r>
              <a:rPr lang="en-IN" b="1" dirty="0">
                <a:latin typeface="Cambria" panose="02040503050406030204" pitchFamily="18" charset="0"/>
                <a:ea typeface="Cambria" panose="02040503050406030204" pitchFamily="18" charset="0"/>
              </a:rPr>
              <a:t>, 2018. </a:t>
            </a:r>
            <a:r>
              <a:rPr lang="en-IN" b="1" u="sng" dirty="0">
                <a:latin typeface="Cambria" panose="02040503050406030204" pitchFamily="18" charset="0"/>
                <a:ea typeface="Cambria" panose="02040503050406030204" pitchFamily="18" charset="0"/>
                <a:hlinkClick r:id="rId5"/>
              </a:rPr>
              <a:t>https://arxiv.org/abs/1809.08267</a:t>
            </a:r>
            <a:endParaRPr lang="en-IN" sz="1600" dirty="0">
              <a:latin typeface="Cambria" panose="02040503050406030204" pitchFamily="18" charset="0"/>
              <a:ea typeface="Cambria" panose="02040503050406030204" pitchFamily="18" charset="0"/>
            </a:endParaRPr>
          </a:p>
          <a:p>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92729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402</TotalTime>
  <Words>1008</Words>
  <Application>Microsoft Office PowerPoint</Application>
  <PresentationFormat>Widescreen</PresentationFormat>
  <Paragraphs>106</Paragraphs>
  <Slides>14</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Cambria</vt:lpstr>
      <vt:lpstr>Verdana</vt:lpstr>
      <vt:lpstr>Wingdings</vt:lpstr>
      <vt:lpstr>Bioinformatics</vt:lpstr>
      <vt:lpstr>SMART NAVIGATION ASSISTANT FOR PGRKAM PORTAL </vt:lpstr>
      <vt:lpstr>Problem Statement Number: </vt:lpstr>
      <vt:lpstr>Content</vt:lpstr>
      <vt:lpstr> Objective</vt:lpstr>
      <vt:lpstr> Background and Related  work </vt:lpstr>
      <vt:lpstr>Analysis of Problem Statement</vt:lpstr>
      <vt:lpstr>Innovation and Novel Contributions</vt:lpstr>
      <vt:lpstr>Github Link</vt:lpstr>
      <vt:lpstr>Analysis of Problem Statement (contd...)</vt:lpstr>
      <vt:lpstr>Analysis of Problem Statement (contd...)</vt:lpstr>
      <vt:lpstr>Timeline of the Project (Gantt Chart)</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balajireddyop@gmail.com</cp:lastModifiedBy>
  <cp:revision>44</cp:revision>
  <dcterms:modified xsi:type="dcterms:W3CDTF">2025-08-13T03:12:28Z</dcterms:modified>
</cp:coreProperties>
</file>