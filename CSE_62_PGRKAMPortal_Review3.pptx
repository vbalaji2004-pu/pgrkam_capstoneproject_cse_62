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257" r:id="rId3"/>
    <p:sldId id="269" r:id="rId4"/>
    <p:sldId id="279" r:id="rId5"/>
    <p:sldId id="276" r:id="rId6"/>
    <p:sldId id="280" r:id="rId7"/>
    <p:sldId id="281" r:id="rId8"/>
    <p:sldId id="282" r:id="rId9"/>
    <p:sldId id="283" r:id="rId10"/>
    <p:sldId id="284" r:id="rId11"/>
    <p:sldId id="278" r:id="rId12"/>
    <p:sldId id="273" r:id="rId13"/>
    <p:sldId id="268" r:id="rId14"/>
    <p:sldId id="285" r:id="rId15"/>
    <p:sldId id="286" r:id="rId16"/>
    <p:sldId id="272" r:id="rId17"/>
    <p:sldId id="271" r:id="rId18"/>
    <p:sldId id="270" r:id="rId19"/>
    <p:sldId id="265" r:id="rId20"/>
    <p:sldId id="275" r:id="rId21"/>
    <p:sldId id="287" r:id="rId22"/>
    <p:sldId id="289" r:id="rId23"/>
    <p:sldId id="288" r:id="rId24"/>
    <p:sldId id="266"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C2CB4B31-5E3B-3183-ACB7-A6A4A1F27BA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C6D3B180-58A4-9A2D-D347-A87163D0BC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BC854E89-10FD-FF76-31C6-33294E6878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5723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1A1582D9-03E4-70F6-22B7-845CB1DC6613}"/>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2FEED1D2-1C56-7437-9D09-82CA5FD658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78B2B5D-2715-9D0D-EA5D-E5BBFF4D66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2267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FB366B81-E5B4-458A-CC50-F4D3951FB352}"/>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04C326D-9CFC-97DA-AA11-DCEFDC28E2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382FBEE-3809-EDC2-5F21-AEFD5CB39A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3877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27F7606-8FD7-58B1-E632-D50AF427C2CF}"/>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183ED67D-9FA6-53E3-C119-4013618A15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03EB9E72-A316-C330-AEDE-7B1DBA0DC3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3600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EAF2352-AC21-5B13-7EE1-F5808505CF0C}"/>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BC9795F-6872-6718-1829-7E35441BA4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0FE13FD2-9677-6437-6A38-8B6FC216B2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481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FEB6A838-F61F-4E21-160B-7FDEB91448F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D628CE4-790A-6BFA-7939-CCE173865C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FC3BED8C-D68B-5A6D-A588-B9BBC507D9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8763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A4F1540-FE72-CA8E-230D-4ABE9640110F}"/>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6BAB4506-446A-B005-6203-F4783D465A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FA250B1-7F34-1C6D-B5EF-572F93C511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8480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8C58756-D183-91C2-A49B-779F17B8C5E1}"/>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FE76311-A2B7-D795-1B02-4B7A5645A5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1BB2CFA8-F5FE-84C8-A45E-D6841648B1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9363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proceedings.neurips.cc/paper/2020/file/1457c0d6bfcb4967418bfb8ac142f64a-Paper.pdf?utm_source=chatgpt.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engineering.linkedin.com/blog/2017/05/ai-powered-job-recommendations" TargetMode="External"/><Relationship Id="rId4" Type="http://schemas.openxmlformats.org/officeDocument/2006/relationships/hyperlink" Target="https://arxiv.org/abs/1704.04579?utm_source=chatgpt.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AI4Bharat/IndicS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ijrte.org/wp-content/uploads/papers/v9i1/A4886059121.pdf" TargetMode="External"/><Relationship Id="rId5" Type="http://schemas.openxmlformats.org/officeDocument/2006/relationships/hyperlink" Target="https://arxiv.org/abs/2303.13348" TargetMode="External"/><Relationship Id="rId4" Type="http://schemas.openxmlformats.org/officeDocument/2006/relationships/hyperlink" Target="https://arxiv.org/abs/2401.00386"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researchgate.net/publication/361731581_AI_Chatbots_in_Recruitment"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dl.acm.org/doi/10.1145/3373625.3418306" TargetMode="External"/><Relationship Id="rId4" Type="http://schemas.openxmlformats.org/officeDocument/2006/relationships/hyperlink" Target="https://ijrpr.com/uploads/V2ISSUE3/IJRPR237.pdf"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proceedings.neurips.cc/paper/2020/file/1457c0d6bfcb4967418bfb8ac142f64a-Paper.pdfhttps:/www.mdpi.com/1424-8220/21/24/8448https:/proceedings.neurips.cc/paper/2020/file/1457c0d6bfcb4967418bfb8ac142f64a-Paper.pdf"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www.mdpi.com/1424-8220/21/24/8448"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109/ACCESS.2022.3201144" TargetMode="External"/><Relationship Id="rId2" Type="http://schemas.openxmlformats.org/officeDocument/2006/relationships/hyperlink" Target="file:///C:\Users\V%20BALAJI\Downloads\%20https\doi.org\10.1109\ACCESS.2022.3201144" TargetMode="External"/><Relationship Id="rId1" Type="http://schemas.openxmlformats.org/officeDocument/2006/relationships/slideLayout" Target="../slideLayouts/slideLayout2.xml"/><Relationship Id="rId5" Type="http://schemas.openxmlformats.org/officeDocument/2006/relationships/hyperlink" Target="https://arxiv.org/abs/1809.08267" TargetMode="External"/><Relationship Id="rId4" Type="http://schemas.openxmlformats.org/officeDocument/2006/relationships/hyperlink" Target="https://arxiv.org/abs/1704.04579"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VBALAJI2004-pu/PGRKAM_CapstoneProject_CSE_62"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2400" dirty="0">
                <a:solidFill>
                  <a:schemeClr val="tx1"/>
                </a:solidFill>
                <a:latin typeface="Cambria" panose="02040503050406030204" pitchFamily="18" charset="0"/>
                <a:ea typeface="Cambria" panose="02040503050406030204" pitchFamily="18" charset="0"/>
              </a:rPr>
              <a:t>SMART NAVIGATION ASSISTANT FOR PGRKAM PORTAL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a:t>
            </a:r>
            <a:r>
              <a:rPr lang="en-IN" sz="1800" dirty="0">
                <a:latin typeface="Cambria" panose="02040503050406030204" pitchFamily="18" charset="0"/>
                <a:ea typeface="Cambria" panose="02040503050406030204" pitchFamily="18" charset="0"/>
              </a:rPr>
              <a:t>CSE_62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694713" y="2513340"/>
            <a:ext cx="5299781"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lvl="0" algn="ctr">
              <a:spcBef>
                <a:spcPts val="400"/>
              </a:spcBef>
              <a:buClr>
                <a:srgbClr val="17365D"/>
              </a:buClr>
              <a:buSzPts val="2000"/>
            </a:pPr>
            <a:r>
              <a:rPr lang="en-IN" sz="2000" b="1" dirty="0"/>
              <a:t>Ms. Rama Bai V</a:t>
            </a:r>
            <a:endParaRPr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252344070"/>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t>20221CSE0727</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V BALAJI</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t>20221CSE0698</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NITHIN REDDY</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t>20221CSE0720</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SHREYA A</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a:t>
            </a:r>
            <a:r>
              <a:rPr lang="en-GB" sz="1800" b="1" dirty="0">
                <a:solidFill>
                  <a:srgbClr val="17365D"/>
                </a:solidFill>
                <a:latin typeface="Cambria" panose="02040503050406030204" pitchFamily="18" charset="0"/>
                <a:ea typeface="Cambria" panose="02040503050406030204" pitchFamily="18" charset="0"/>
                <a:cs typeface="Verdana"/>
                <a:sym typeface="Verdana"/>
              </a:rPr>
              <a:t>5</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and Engineering</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Asif Mohammed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t>Dr. Jayavadivel Ravi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76584"/>
          </a:xfrm>
          <a:prstGeom prst="rect">
            <a:avLst/>
          </a:prstGeom>
          <a:noFill/>
          <a:ln>
            <a:noFill/>
          </a:ln>
        </p:spPr>
        <p:txBody>
          <a:bodyPr spcFirstLastPara="1" wrap="square" lIns="91425" tIns="45700" rIns="91425" bIns="45700" anchor="t" anchorCtr="0">
            <a:normAutofit fontScale="475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Abstract </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Literature Survey</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Existing methods and drawbacks</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Proposed methods and feasibility</a:t>
            </a:r>
          </a:p>
          <a:p>
            <a:pPr marL="495300" lvl="0" indent="-342900" algn="just">
              <a:lnSpc>
                <a:spcPct val="200000"/>
              </a:lnSpc>
              <a:spcBef>
                <a:spcPts val="0"/>
              </a:spcBef>
              <a:buFont typeface="Arial" panose="020B0604020202020204" pitchFamily="34" charset="0"/>
              <a:buChar char="•"/>
            </a:pPr>
            <a:r>
              <a:rPr lang="en-US" sz="2200" dirty="0">
                <a:latin typeface="Cambria" panose="02040503050406030204" pitchFamily="18" charset="0"/>
                <a:ea typeface="Cambria" panose="02040503050406030204" pitchFamily="18" charset="0"/>
              </a:rPr>
              <a:t>Architecture Diagram</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Module Description</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Software Requirements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Timeline(Gantt Chart)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Project Output </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err="1">
                <a:latin typeface="Cambria" panose="02040503050406030204" pitchFamily="18" charset="0"/>
                <a:ea typeface="Cambria" panose="02040503050406030204" pitchFamily="18" charset="0"/>
              </a:rPr>
              <a:t>Github</a:t>
            </a:r>
            <a:r>
              <a:rPr lang="en-US" dirty="0">
                <a:latin typeface="Cambria" panose="02040503050406030204" pitchFamily="18" charset="0"/>
                <a:ea typeface="Cambria" panose="02040503050406030204" pitchFamily="18" charset="0"/>
              </a:rPr>
              <a:t> </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40509" y="283874"/>
            <a:ext cx="10704946"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Number:17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54182" y="1006764"/>
            <a:ext cx="11185236" cy="5467927"/>
          </a:xfrm>
          <a:prstGeom prst="rect">
            <a:avLst/>
          </a:prstGeom>
          <a:noFill/>
          <a:ln>
            <a:noFill/>
          </a:ln>
        </p:spPr>
        <p:txBody>
          <a:bodyPr spcFirstLastPara="1" wrap="square" lIns="91425" tIns="45700" rIns="91425" bIns="45700" anchor="t" anchorCtr="0">
            <a:normAutofit fontScale="25000" lnSpcReduction="20000"/>
          </a:bodyPr>
          <a:lstStyle/>
          <a:p>
            <a:pPr marL="342900" lvl="0" indent="-190500" algn="just">
              <a:spcBef>
                <a:spcPts val="0"/>
              </a:spcBef>
              <a:buNone/>
            </a:pPr>
            <a:r>
              <a:rPr lang="en-US" sz="9600" dirty="0">
                <a:latin typeface="Cambria" panose="02040503050406030204" pitchFamily="18" charset="0"/>
                <a:ea typeface="Cambria" panose="02040503050406030204" pitchFamily="18" charset="0"/>
              </a:rPr>
              <a:t>Organization: Department of Employment ,Government of Punjab</a:t>
            </a:r>
          </a:p>
          <a:p>
            <a:pPr marL="342900" lvl="0" indent="-190500" algn="just">
              <a:lnSpc>
                <a:spcPct val="200000"/>
              </a:lnSpc>
              <a:spcBef>
                <a:spcPts val="0"/>
              </a:spcBef>
              <a:buNone/>
            </a:pPr>
            <a:r>
              <a:rPr lang="en-US" sz="9600" dirty="0">
                <a:latin typeface="Cambria" panose="02040503050406030204" pitchFamily="18" charset="0"/>
                <a:ea typeface="Cambria" panose="02040503050406030204" pitchFamily="18" charset="0"/>
              </a:rPr>
              <a:t>Category :Software</a:t>
            </a:r>
          </a:p>
          <a:p>
            <a:pPr marL="342900" lvl="0" indent="-190500" algn="just">
              <a:lnSpc>
                <a:spcPct val="200000"/>
              </a:lnSpc>
              <a:spcBef>
                <a:spcPts val="0"/>
              </a:spcBef>
              <a:buNone/>
            </a:pPr>
            <a:r>
              <a:rPr lang="en-US" sz="9600" b="1" dirty="0">
                <a:latin typeface="Cambria" panose="02040503050406030204" pitchFamily="18" charset="0"/>
                <a:ea typeface="Cambria" panose="02040503050406030204" pitchFamily="18" charset="0"/>
              </a:rPr>
              <a:t>Problem Description:</a:t>
            </a:r>
          </a:p>
          <a:p>
            <a:pPr marL="342900" indent="-190500" algn="just">
              <a:lnSpc>
                <a:spcPct val="120000"/>
              </a:lnSpc>
              <a:spcBef>
                <a:spcPts val="0"/>
              </a:spcBef>
              <a:buNone/>
            </a:pPr>
            <a:r>
              <a:rPr lang="en-IN" sz="9600" dirty="0">
                <a:latin typeface="Cambria" panose="02040503050406030204" pitchFamily="18" charset="0"/>
                <a:ea typeface="Cambria" panose="02040503050406030204" pitchFamily="18" charset="0"/>
              </a:rPr>
              <a:t>   The Employment Department at present has a digital platform www.pgrkam.com and its mobile application to provide almost all services offered to job seekers and employers through digital means. The portal has multiple modules like private sector jobs, government jobs, self-employment avenues, foreign jobs, foreign study, counseling, guidance, induction into armed forces, job melas, etc. Currently, when a user visits the portal/app, there is no hand-holding mechanism to help the user get to the part of the digital platform which will resolve his queries. The user is required to navigate across multiple modules on the portal/ app to search for answers.</a:t>
            </a:r>
          </a:p>
          <a:p>
            <a:pPr marL="342900" lvl="0" indent="-190500" algn="just">
              <a:lnSpc>
                <a:spcPct val="200000"/>
              </a:lnSpc>
              <a:spcBef>
                <a:spcPts val="0"/>
              </a:spcBef>
              <a:buNone/>
            </a:pPr>
            <a:endParaRPr lang="en-US" sz="96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0E180E07-B26A-DD8D-079E-A91B81FA048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4782F5B-BF96-8CD2-BFBA-946CFFBEB17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Abstract</a:t>
            </a:r>
          </a:p>
        </p:txBody>
      </p:sp>
      <p:sp>
        <p:nvSpPr>
          <p:cNvPr id="115" name="Google Shape;115;p17">
            <a:extLst>
              <a:ext uri="{FF2B5EF4-FFF2-40B4-BE49-F238E27FC236}">
                <a16:creationId xmlns:a16="http://schemas.microsoft.com/office/drawing/2014/main" id="{D8D77F27-8236-64D7-ED32-76355692C8D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7A036530-18D6-3E93-5E5F-FF398A124721}"/>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B70C13DC-90C1-0AC4-42C6-112E77AEF970}"/>
              </a:ext>
            </a:extLst>
          </p:cNvPr>
          <p:cNvSpPr txBox="1">
            <a:spLocks/>
          </p:cNvSpPr>
          <p:nvPr/>
        </p:nvSpPr>
        <p:spPr>
          <a:xfrm>
            <a:off x="355600" y="1838373"/>
            <a:ext cx="11125200" cy="268826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dirty="0">
                <a:solidFill>
                  <a:schemeClr val="tx1"/>
                </a:solidFill>
                <a:latin typeface="Cambria" panose="02040503050406030204" pitchFamily="18" charset="0"/>
                <a:ea typeface="Cambria" panose="02040503050406030204" pitchFamily="18" charset="0"/>
              </a:rPr>
              <a:t>        This project presents a basic prototype of an intelligent chatbot integrated into the employment portal www.pgrkam.com and its mobile app. The chatbot aims to provide a user-friendly, guided experience, helping users navigate the platform efficiently and find relevant services or information quickly.</a:t>
            </a:r>
          </a:p>
        </p:txBody>
      </p:sp>
    </p:spTree>
    <p:extLst>
      <p:ext uri="{BB962C8B-B14F-4D97-AF65-F5344CB8AC3E}">
        <p14:creationId xmlns:p14="http://schemas.microsoft.com/office/powerpoint/2010/main" val="2222790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C1DA7-CFA0-31F8-E3FE-71B0264DE714}"/>
              </a:ext>
            </a:extLst>
          </p:cNvPr>
          <p:cNvSpPr>
            <a:spLocks noGrp="1"/>
          </p:cNvSpPr>
          <p:nvPr>
            <p:ph type="title"/>
          </p:nvPr>
        </p:nvSpPr>
        <p:spPr>
          <a:xfrm>
            <a:off x="812799" y="147782"/>
            <a:ext cx="10455566" cy="711200"/>
          </a:xfrm>
        </p:spPr>
        <p:txBody>
          <a:bodyPr/>
          <a:lstStyle/>
          <a:p>
            <a:br>
              <a:rPr lang="en-IN" dirty="0"/>
            </a:br>
            <a:r>
              <a:rPr lang="en-IN" dirty="0">
                <a:latin typeface="Cambria" panose="02040503050406030204" pitchFamily="18" charset="0"/>
                <a:ea typeface="Cambria" panose="02040503050406030204" pitchFamily="18" charset="0"/>
              </a:rPr>
              <a:t>Objective</a:t>
            </a:r>
          </a:p>
        </p:txBody>
      </p:sp>
      <p:sp>
        <p:nvSpPr>
          <p:cNvPr id="3" name="Text Placeholder 2">
            <a:extLst>
              <a:ext uri="{FF2B5EF4-FFF2-40B4-BE49-F238E27FC236}">
                <a16:creationId xmlns:a16="http://schemas.microsoft.com/office/drawing/2014/main" id="{0D49F188-9227-FA4B-CDC5-D8547D18A402}"/>
              </a:ext>
            </a:extLst>
          </p:cNvPr>
          <p:cNvSpPr>
            <a:spLocks noGrp="1"/>
          </p:cNvSpPr>
          <p:nvPr>
            <p:ph type="body" idx="1"/>
          </p:nvPr>
        </p:nvSpPr>
        <p:spPr>
          <a:xfrm>
            <a:off x="812799" y="979054"/>
            <a:ext cx="10797309" cy="5315527"/>
          </a:xfrm>
        </p:spPr>
        <p:txBody>
          <a:bodyPr>
            <a:normAutofit/>
          </a:bodyPr>
          <a:lstStyle/>
          <a:p>
            <a:pPr lvl="0"/>
            <a:r>
              <a:rPr lang="en-IN" b="1" dirty="0">
                <a:latin typeface="Cambria" panose="02040503050406030204" pitchFamily="18" charset="0"/>
                <a:ea typeface="Cambria" panose="02040503050406030204" pitchFamily="18" charset="0"/>
              </a:rPr>
              <a:t>Develop a multilingual smart chatbot</a:t>
            </a:r>
            <a:r>
              <a:rPr lang="en-IN" dirty="0">
                <a:latin typeface="Cambria" panose="02040503050406030204" pitchFamily="18" charset="0"/>
                <a:ea typeface="Cambria" panose="02040503050406030204" pitchFamily="18" charset="0"/>
              </a:rPr>
              <a:t> leveraging Large Language Models (LLMs) such as GPT-3, to provide intelligent, context-aware assistance to users of the PGRKAM digital platform.</a:t>
            </a:r>
          </a:p>
          <a:p>
            <a:pPr lvl="0"/>
            <a:r>
              <a:rPr lang="en-IN" b="1" dirty="0">
                <a:latin typeface="Cambria" panose="02040503050406030204" pitchFamily="18" charset="0"/>
                <a:ea typeface="Cambria" panose="02040503050406030204" pitchFamily="18" charset="0"/>
              </a:rPr>
              <a:t>Enable both text and voice query handling</a:t>
            </a:r>
            <a:r>
              <a:rPr lang="en-IN" dirty="0">
                <a:latin typeface="Cambria" panose="02040503050406030204" pitchFamily="18" charset="0"/>
                <a:ea typeface="Cambria" panose="02040503050406030204" pitchFamily="18" charset="0"/>
              </a:rPr>
              <a:t> in Punjabi, Hindi, and English, with a focus on domains including job search, skill development, and foreign counseling.</a:t>
            </a:r>
          </a:p>
          <a:p>
            <a:pPr lvl="0"/>
            <a:r>
              <a:rPr lang="en-IN" b="1" dirty="0">
                <a:latin typeface="Cambria" panose="02040503050406030204" pitchFamily="18" charset="0"/>
                <a:ea typeface="Cambria" panose="02040503050406030204" pitchFamily="18" charset="0"/>
              </a:rPr>
              <a:t>Incorporate personalized job recommendations</a:t>
            </a:r>
            <a:r>
              <a:rPr lang="en-IN" dirty="0">
                <a:latin typeface="Cambria" panose="02040503050406030204" pitchFamily="18" charset="0"/>
                <a:ea typeface="Cambria" panose="02040503050406030204" pitchFamily="18" charset="0"/>
              </a:rPr>
              <a:t> by analyzing and utilizing each user’s historical interactions and stated preferences.</a:t>
            </a:r>
          </a:p>
          <a:p>
            <a:pPr lvl="0"/>
            <a:r>
              <a:rPr lang="en-IN" b="1" dirty="0">
                <a:latin typeface="Cambria" panose="02040503050406030204" pitchFamily="18" charset="0"/>
                <a:ea typeface="Cambria" panose="02040503050406030204" pitchFamily="18" charset="0"/>
              </a:rPr>
              <a:t>Enhance accessibility</a:t>
            </a:r>
            <a:r>
              <a:rPr lang="en-IN" dirty="0">
                <a:latin typeface="Cambria" panose="02040503050406030204" pitchFamily="18" charset="0"/>
                <a:ea typeface="Cambria" panose="02040503050406030204" pitchFamily="18" charset="0"/>
              </a:rPr>
              <a:t> through the integration of a multilingual screen-reading module to support visually impaired users.</a:t>
            </a:r>
          </a:p>
          <a:p>
            <a:pPr lvl="0"/>
            <a:r>
              <a:rPr lang="en-IN" b="1" dirty="0">
                <a:latin typeface="Cambria" panose="02040503050406030204" pitchFamily="18" charset="0"/>
                <a:ea typeface="Cambria" panose="02040503050406030204" pitchFamily="18" charset="0"/>
              </a:rPr>
              <a:t>Ensure cross-platform compatibility</a:t>
            </a:r>
            <a:r>
              <a:rPr lang="en-IN" dirty="0">
                <a:latin typeface="Cambria" panose="02040503050406030204" pitchFamily="18" charset="0"/>
                <a:ea typeface="Cambria" panose="02040503050406030204" pitchFamily="18" charset="0"/>
              </a:rPr>
              <a:t>, allowing users to chat, read, or listen to responses seamlessly on both smartphones and laptops, thereby reducing navigation time and effort.</a:t>
            </a: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63496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74F7505D-783E-14AD-1D64-9AB3DEEC826A}"/>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CA58EB85-F41F-D42D-2112-D9767BC5340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Literature Survey</a:t>
            </a:r>
          </a:p>
        </p:txBody>
      </p:sp>
      <p:sp>
        <p:nvSpPr>
          <p:cNvPr id="115" name="Google Shape;115;p17">
            <a:extLst>
              <a:ext uri="{FF2B5EF4-FFF2-40B4-BE49-F238E27FC236}">
                <a16:creationId xmlns:a16="http://schemas.microsoft.com/office/drawing/2014/main" id="{ECCEBE32-F210-F595-D727-CF26AD025D6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12A131D2-FB16-F4AB-09CB-75735BAECC28}"/>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5511810B-52CB-69D9-0674-99BD3192047D}"/>
              </a:ext>
            </a:extLst>
          </p:cNvPr>
          <p:cNvSpPr txBox="1">
            <a:spLocks/>
          </p:cNvSpPr>
          <p:nvPr/>
        </p:nvSpPr>
        <p:spPr>
          <a:xfrm>
            <a:off x="442686" y="1240971"/>
            <a:ext cx="11125200" cy="4952999"/>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IN" b="1" dirty="0">
                <a:latin typeface="Cambria" panose="02040503050406030204" pitchFamily="18" charset="0"/>
                <a:ea typeface="Cambria" panose="02040503050406030204" pitchFamily="18" charset="0"/>
              </a:rPr>
              <a:t>Brown et al. (2020)</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Language Models are Few-Shot Learners</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hlinkClick r:id="rId3"/>
              </a:rPr>
              <a:t>Paper Link</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Introduces GPT-3, shows large LLMs can perform diverse NLP tasks with few shot learning.</a:t>
            </a:r>
          </a:p>
          <a:p>
            <a:r>
              <a:rPr lang="en-IN" b="1" dirty="0">
                <a:latin typeface="Cambria" panose="02040503050406030204" pitchFamily="18" charset="0"/>
                <a:ea typeface="Cambria" panose="02040503050406030204" pitchFamily="18" charset="0"/>
              </a:rPr>
              <a:t>Radziwill &amp; Benton (2017)</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Evaluating Quality of Chatbots and Intelligent Conversational Agents</a:t>
            </a:r>
            <a:br>
              <a:rPr lang="en-IN" dirty="0">
                <a:latin typeface="Cambria" panose="02040503050406030204" pitchFamily="18" charset="0"/>
                <a:ea typeface="Cambria" panose="02040503050406030204" pitchFamily="18" charset="0"/>
              </a:rPr>
            </a:br>
            <a:r>
              <a:rPr lang="en-IN" dirty="0" err="1">
                <a:latin typeface="Cambria" panose="02040503050406030204" pitchFamily="18" charset="0"/>
                <a:ea typeface="Cambria" panose="02040503050406030204" pitchFamily="18" charset="0"/>
                <a:hlinkClick r:id="rId4"/>
              </a:rPr>
              <a:t>arXiv</a:t>
            </a:r>
            <a:r>
              <a:rPr lang="en-IN" dirty="0">
                <a:latin typeface="Cambria" panose="02040503050406030204" pitchFamily="18" charset="0"/>
                <a:ea typeface="Cambria" panose="02040503050406030204" pitchFamily="18" charset="0"/>
                <a:hlinkClick r:id="rId4"/>
              </a:rPr>
              <a:t> Link</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Defines chatbot quality metrics: usability, reliability, conversational ability, accessibility.</a:t>
            </a:r>
          </a:p>
          <a:p>
            <a:r>
              <a:rPr lang="en-IN" b="1" dirty="0">
                <a:latin typeface="Cambria" panose="02040503050406030204" pitchFamily="18" charset="0"/>
                <a:ea typeface="Cambria" panose="02040503050406030204" pitchFamily="18" charset="0"/>
              </a:rPr>
              <a:t>Geyik et al. (LinkedIn, 2017)</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Personalized Job Recommendation System</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hlinkClick r:id="rId5"/>
              </a:rPr>
              <a:t>https://engineering.linkedin.com/blog/2017/05/ai-powered-job-recommendations</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Hybrid online/offline recommendation system for personalized job matching.</a:t>
            </a:r>
          </a:p>
        </p:txBody>
      </p:sp>
    </p:spTree>
    <p:extLst>
      <p:ext uri="{BB962C8B-B14F-4D97-AF65-F5344CB8AC3E}">
        <p14:creationId xmlns:p14="http://schemas.microsoft.com/office/powerpoint/2010/main" val="3883669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344107B3-6269-DAE8-9ACF-11259C233AFD}"/>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7E492C7-2766-ACBD-0281-B7A4C23F26B3}"/>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Literature Survey</a:t>
            </a:r>
          </a:p>
        </p:txBody>
      </p:sp>
      <p:sp>
        <p:nvSpPr>
          <p:cNvPr id="115" name="Google Shape;115;p17">
            <a:extLst>
              <a:ext uri="{FF2B5EF4-FFF2-40B4-BE49-F238E27FC236}">
                <a16:creationId xmlns:a16="http://schemas.microsoft.com/office/drawing/2014/main" id="{B523B4F5-EB4B-1D12-335D-5CFF32D39287}"/>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7DD6E959-BAD1-A3DA-47BD-AC811160F132}"/>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C7655AEE-2443-5A2A-5F43-A28753F70817}"/>
              </a:ext>
            </a:extLst>
          </p:cNvPr>
          <p:cNvSpPr txBox="1">
            <a:spLocks/>
          </p:cNvSpPr>
          <p:nvPr/>
        </p:nvSpPr>
        <p:spPr>
          <a:xfrm>
            <a:off x="442686" y="952500"/>
            <a:ext cx="11125200" cy="495299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IN" b="1" dirty="0">
                <a:latin typeface="Cambria" panose="02040503050406030204" pitchFamily="18" charset="0"/>
                <a:ea typeface="Cambria" panose="02040503050406030204" pitchFamily="18" charset="0"/>
                <a:cs typeface="Calibri" panose="020F0502020204030204" pitchFamily="34" charset="0"/>
              </a:rPr>
              <a:t>IndicST (2025)</a:t>
            </a:r>
            <a:r>
              <a:rPr lang="en-IN" dirty="0">
                <a:latin typeface="Cambria" panose="02040503050406030204" pitchFamily="18" charset="0"/>
                <a:ea typeface="Cambria" panose="02040503050406030204" pitchFamily="18" charset="0"/>
                <a:cs typeface="Calibri" panose="020F0502020204030204" pitchFamily="34" charset="0"/>
              </a:rPr>
              <a:t> – </a:t>
            </a:r>
            <a:r>
              <a:rPr lang="en-IN" i="1" dirty="0">
                <a:latin typeface="Cambria" panose="02040503050406030204" pitchFamily="18" charset="0"/>
                <a:ea typeface="Cambria" panose="02040503050406030204" pitchFamily="18" charset="0"/>
                <a:cs typeface="Calibri" panose="020F0502020204030204" pitchFamily="34" charset="0"/>
              </a:rPr>
              <a:t>Speech-to-Text for Low-Resource Indian Languages</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hlinkClick r:id="rId3"/>
              </a:rPr>
              <a:t>GitHub Project</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rPr>
              <a:t>→ Improves speech recognition in Indic languages using multilingual corpora.</a:t>
            </a:r>
          </a:p>
          <a:p>
            <a:r>
              <a:rPr lang="en-IN" b="1" dirty="0">
                <a:latin typeface="Cambria" panose="02040503050406030204" pitchFamily="18" charset="0"/>
                <a:ea typeface="Cambria" panose="02040503050406030204" pitchFamily="18" charset="0"/>
                <a:cs typeface="Calibri" panose="020F0502020204030204" pitchFamily="34" charset="0"/>
              </a:rPr>
              <a:t>Popov et al. (2024)</a:t>
            </a:r>
            <a:r>
              <a:rPr lang="en-IN" dirty="0">
                <a:latin typeface="Cambria" panose="02040503050406030204" pitchFamily="18" charset="0"/>
                <a:ea typeface="Cambria" panose="02040503050406030204" pitchFamily="18" charset="0"/>
                <a:cs typeface="Calibri" panose="020F0502020204030204" pitchFamily="34" charset="0"/>
              </a:rPr>
              <a:t> – </a:t>
            </a:r>
            <a:r>
              <a:rPr lang="en-IN" i="1" dirty="0">
                <a:latin typeface="Cambria" panose="02040503050406030204" pitchFamily="18" charset="0"/>
                <a:ea typeface="Cambria" panose="02040503050406030204" pitchFamily="18" charset="0"/>
                <a:cs typeface="Calibri" panose="020F0502020204030204" pitchFamily="34" charset="0"/>
              </a:rPr>
              <a:t>Diffusion-based TTS for Low-Resource Languages</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hlinkClick r:id="rId4"/>
              </a:rPr>
              <a:t>https://arxiv.org/abs/2401.00386</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rPr>
              <a:t>→ Uses diffusion models for high-quality text-to-speech in resource-scarce languages.</a:t>
            </a:r>
          </a:p>
          <a:p>
            <a:r>
              <a:rPr lang="en-IN" b="1" dirty="0">
                <a:latin typeface="Cambria" panose="02040503050406030204" pitchFamily="18" charset="0"/>
                <a:ea typeface="Cambria" panose="02040503050406030204" pitchFamily="18" charset="0"/>
                <a:cs typeface="Calibri" panose="020F0502020204030204" pitchFamily="34" charset="0"/>
              </a:rPr>
              <a:t>Reddy et al. (2023)</a:t>
            </a:r>
            <a:r>
              <a:rPr lang="en-IN" dirty="0">
                <a:latin typeface="Cambria" panose="02040503050406030204" pitchFamily="18" charset="0"/>
                <a:ea typeface="Cambria" panose="02040503050406030204" pitchFamily="18" charset="0"/>
                <a:cs typeface="Calibri" panose="020F0502020204030204" pitchFamily="34" charset="0"/>
              </a:rPr>
              <a:t> – </a:t>
            </a:r>
            <a:r>
              <a:rPr lang="en-IN" i="1" dirty="0">
                <a:latin typeface="Cambria" panose="02040503050406030204" pitchFamily="18" charset="0"/>
                <a:ea typeface="Cambria" panose="02040503050406030204" pitchFamily="18" charset="0"/>
                <a:cs typeface="Calibri" panose="020F0502020204030204" pitchFamily="34" charset="0"/>
              </a:rPr>
              <a:t>Inter-Bilingual Semantic Parsing for Indian Languages</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hlinkClick r:id="rId5"/>
              </a:rPr>
              <a:t>https://arxiv.org/abs/2303.13348</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rPr>
              <a:t>→ Cross-lingual semantic parsing for multilingual dialogue systems.</a:t>
            </a:r>
          </a:p>
          <a:p>
            <a:r>
              <a:rPr lang="en-IN" b="1" dirty="0">
                <a:latin typeface="Cambria" panose="02040503050406030204" pitchFamily="18" charset="0"/>
                <a:ea typeface="Cambria" panose="02040503050406030204" pitchFamily="18" charset="0"/>
                <a:cs typeface="Calibri" panose="020F0502020204030204" pitchFamily="34" charset="0"/>
              </a:rPr>
              <a:t>Kaur &amp; Sharma (2021)</a:t>
            </a:r>
            <a:r>
              <a:rPr lang="en-IN" dirty="0">
                <a:latin typeface="Cambria" panose="02040503050406030204" pitchFamily="18" charset="0"/>
                <a:ea typeface="Cambria" panose="02040503050406030204" pitchFamily="18" charset="0"/>
                <a:cs typeface="Calibri" panose="020F0502020204030204" pitchFamily="34" charset="0"/>
              </a:rPr>
              <a:t> – </a:t>
            </a:r>
            <a:r>
              <a:rPr lang="en-IN" i="1" dirty="0">
                <a:latin typeface="Cambria" panose="02040503050406030204" pitchFamily="18" charset="0"/>
                <a:ea typeface="Cambria" panose="02040503050406030204" pitchFamily="18" charset="0"/>
                <a:cs typeface="Calibri" panose="020F0502020204030204" pitchFamily="34" charset="0"/>
              </a:rPr>
              <a:t>Hybrid Summarization for Hindi &amp; Punjabi Documents</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hlinkClick r:id="rId6"/>
              </a:rPr>
              <a:t>https://www.ijrte.org/wp-content/uploads/papers/v9i1/A4886059121.pdf</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rPr>
              <a:t>→ Hybrid extractive summarization method tailored for Indian languages</a:t>
            </a:r>
            <a:r>
              <a:rPr lang="en-IN" dirty="0">
                <a:latin typeface="Cambria" panose="02040503050406030204" pitchFamily="18" charset="0"/>
                <a:ea typeface="Cambria" panose="02040503050406030204" pitchFamily="18" charset="0"/>
              </a:rPr>
              <a:t>.</a:t>
            </a:r>
            <a:br>
              <a:rPr lang="en-IN" dirty="0">
                <a:latin typeface="Cambria" panose="02040503050406030204" pitchFamily="18" charset="0"/>
                <a:ea typeface="Cambria" panose="02040503050406030204" pitchFamily="18" charset="0"/>
              </a:rPr>
            </a:b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48798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E4AFA100-505A-6D69-FD13-08D5B562D42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5B04C04D-081B-F9C0-56F3-69BD1AE800EF}"/>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Literature Survey</a:t>
            </a:r>
          </a:p>
        </p:txBody>
      </p:sp>
      <p:sp>
        <p:nvSpPr>
          <p:cNvPr id="115" name="Google Shape;115;p17">
            <a:extLst>
              <a:ext uri="{FF2B5EF4-FFF2-40B4-BE49-F238E27FC236}">
                <a16:creationId xmlns:a16="http://schemas.microsoft.com/office/drawing/2014/main" id="{C725E444-42AF-48BA-F46D-196C5A6A72B0}"/>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40BDA8AF-F942-D008-E36D-A1053D5C0271}"/>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CB6A7DCA-D046-4951-9CFA-6CB3F1E92074}"/>
              </a:ext>
            </a:extLst>
          </p:cNvPr>
          <p:cNvSpPr txBox="1">
            <a:spLocks/>
          </p:cNvSpPr>
          <p:nvPr/>
        </p:nvSpPr>
        <p:spPr>
          <a:xfrm>
            <a:off x="533400" y="1031650"/>
            <a:ext cx="11125200" cy="495299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IN" b="1" dirty="0">
                <a:latin typeface="Cambria" panose="02040503050406030204" pitchFamily="18" charset="0"/>
                <a:ea typeface="Cambria" panose="02040503050406030204" pitchFamily="18" charset="0"/>
              </a:rPr>
              <a:t>Kshetri (2022)</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AI Chatbots in Indian Recruitment</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hlinkClick r:id="rId3"/>
              </a:rPr>
              <a:t>ResearchGate Link</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Study on how Indian recruiters use chatbots, benefits &amp; challenges.</a:t>
            </a:r>
          </a:p>
          <a:p>
            <a:r>
              <a:rPr lang="en-IN" b="1" dirty="0">
                <a:latin typeface="Cambria" panose="02040503050406030204" pitchFamily="18" charset="0"/>
                <a:ea typeface="Cambria" panose="02040503050406030204" pitchFamily="18" charset="0"/>
              </a:rPr>
              <a:t>Yadav et al. (2021)</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AI-Based Job Portal with Chatbot Integration</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hlinkClick r:id="rId4"/>
              </a:rPr>
              <a:t>https://ijrpr.com/uploads/V2ISSUE3/IJRPR237.pdf</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Prototype of a job portal with AI chatbot for faster job search &amp; FAQs.</a:t>
            </a:r>
          </a:p>
          <a:p>
            <a:r>
              <a:rPr lang="en-IN" b="1" dirty="0">
                <a:latin typeface="Cambria" panose="02040503050406030204" pitchFamily="18" charset="0"/>
                <a:ea typeface="Cambria" panose="02040503050406030204" pitchFamily="18" charset="0"/>
              </a:rPr>
              <a:t>Sundar et al. (2020)</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Accessibility Challenges in Multilingual Screen Readers</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hlinkClick r:id="rId5"/>
              </a:rPr>
              <a:t>https://dl.acm.org/doi/10.1145/3373625.3418306</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Shows how multilingual websites pose challenges for visually impaired users.</a:t>
            </a:r>
          </a:p>
        </p:txBody>
      </p:sp>
    </p:spTree>
    <p:extLst>
      <p:ext uri="{BB962C8B-B14F-4D97-AF65-F5344CB8AC3E}">
        <p14:creationId xmlns:p14="http://schemas.microsoft.com/office/powerpoint/2010/main" val="1690987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2B95658-A9E0-90F0-A01A-FFBDD3E0582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DCAF8830-EBBD-B5FD-19DF-EE113D0A8EE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Existing Methods </a:t>
            </a:r>
          </a:p>
        </p:txBody>
      </p:sp>
      <p:sp>
        <p:nvSpPr>
          <p:cNvPr id="115" name="Google Shape;115;p17">
            <a:extLst>
              <a:ext uri="{FF2B5EF4-FFF2-40B4-BE49-F238E27FC236}">
                <a16:creationId xmlns:a16="http://schemas.microsoft.com/office/drawing/2014/main" id="{0AFE8802-9D66-5EE4-D526-7D27FC7F4324}"/>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8595386C-1AD6-83D7-E483-5BE843BE95FA}"/>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16E23A37-06DB-EE78-E505-AB1C63DAC3B7}"/>
              </a:ext>
            </a:extLst>
          </p:cNvPr>
          <p:cNvSpPr txBox="1">
            <a:spLocks/>
          </p:cNvSpPr>
          <p:nvPr/>
        </p:nvSpPr>
        <p:spPr>
          <a:xfrm>
            <a:off x="584200" y="868760"/>
            <a:ext cx="11125200" cy="522724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US" sz="2000" b="1" dirty="0">
                <a:latin typeface="Cambria" panose="02040503050406030204" pitchFamily="18" charset="0"/>
                <a:ea typeface="Cambria" panose="02040503050406030204" pitchFamily="18" charset="0"/>
              </a:rPr>
              <a:t>Rule-based Chatbots</a:t>
            </a:r>
            <a:endParaRPr lang="en-US" sz="2000"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Predefined question–answer pairs.</a:t>
            </a:r>
          </a:p>
          <a:p>
            <a:pPr lvl="1"/>
            <a:r>
              <a:rPr lang="en-US" dirty="0">
                <a:latin typeface="Cambria" panose="02040503050406030204" pitchFamily="18" charset="0"/>
                <a:ea typeface="Cambria" panose="02040503050406030204" pitchFamily="18" charset="0"/>
              </a:rPr>
              <a:t>Common in older government job portals and recruitment FAQs.</a:t>
            </a:r>
          </a:p>
          <a:p>
            <a:r>
              <a:rPr lang="en-US" sz="2000" b="1" dirty="0">
                <a:latin typeface="Cambria" panose="02040503050406030204" pitchFamily="18" charset="0"/>
                <a:ea typeface="Cambria" panose="02040503050406030204" pitchFamily="18" charset="0"/>
              </a:rPr>
              <a:t>Menu-driven Navigation</a:t>
            </a:r>
            <a:endParaRPr lang="en-US" sz="2000"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Users select from dropdowns or menus to find jobs or services.</a:t>
            </a:r>
          </a:p>
          <a:p>
            <a:pPr lvl="1"/>
            <a:r>
              <a:rPr lang="en-US" dirty="0">
                <a:latin typeface="Cambria" panose="02040503050406030204" pitchFamily="18" charset="0"/>
                <a:ea typeface="Cambria" panose="02040503050406030204" pitchFamily="18" charset="0"/>
              </a:rPr>
              <a:t>Widely used in current PGRKAM portal.</a:t>
            </a:r>
          </a:p>
          <a:p>
            <a:r>
              <a:rPr lang="en-US" sz="2000" b="1" dirty="0">
                <a:latin typeface="Cambria" panose="02040503050406030204" pitchFamily="18" charset="0"/>
                <a:ea typeface="Cambria" panose="02040503050406030204" pitchFamily="18" charset="0"/>
              </a:rPr>
              <a:t>Generic Search Bars</a:t>
            </a:r>
            <a:endParaRPr lang="en-US" sz="2000"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Keyword search to retrieve results.</a:t>
            </a:r>
          </a:p>
          <a:p>
            <a:pPr lvl="1"/>
            <a:r>
              <a:rPr lang="en-US" dirty="0">
                <a:latin typeface="Cambria" panose="02040503050406030204" pitchFamily="18" charset="0"/>
                <a:ea typeface="Cambria" panose="02040503050406030204" pitchFamily="18" charset="0"/>
              </a:rPr>
              <a:t>Often English-only and not optimized for regional languages.</a:t>
            </a:r>
          </a:p>
          <a:p>
            <a:r>
              <a:rPr lang="en-US" sz="2000" b="1" dirty="0">
                <a:latin typeface="Cambria" panose="02040503050406030204" pitchFamily="18" charset="0"/>
                <a:ea typeface="Cambria" panose="02040503050406030204" pitchFamily="18" charset="0"/>
              </a:rPr>
              <a:t>Third-party Career Portals (e.g., Naukri, LinkedIn)</a:t>
            </a:r>
            <a:endParaRPr lang="en-US" sz="2000"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Provide AI-based job recommendations.</a:t>
            </a:r>
          </a:p>
          <a:p>
            <a:pPr lvl="1"/>
            <a:r>
              <a:rPr lang="en-US" dirty="0">
                <a:latin typeface="Cambria" panose="02040503050406030204" pitchFamily="18" charset="0"/>
                <a:ea typeface="Cambria" panose="02040503050406030204" pitchFamily="18" charset="0"/>
              </a:rPr>
              <a:t>Focus mainly on English-speaking audience and private sector jobs.</a:t>
            </a:r>
          </a:p>
          <a:p>
            <a:r>
              <a:rPr lang="en-US" sz="2000" b="1" dirty="0">
                <a:latin typeface="Cambria" panose="02040503050406030204" pitchFamily="18" charset="0"/>
                <a:ea typeface="Cambria" panose="02040503050406030204" pitchFamily="18" charset="0"/>
              </a:rPr>
              <a:t>Voice Assistants (Google Assistant, Alexa)</a:t>
            </a:r>
            <a:endParaRPr lang="en-US" sz="2000"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Can handle job-related questions but lack integration with regional government databases.</a:t>
            </a:r>
          </a:p>
        </p:txBody>
      </p:sp>
    </p:spTree>
    <p:extLst>
      <p:ext uri="{BB962C8B-B14F-4D97-AF65-F5344CB8AC3E}">
        <p14:creationId xmlns:p14="http://schemas.microsoft.com/office/powerpoint/2010/main" val="2083446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AF81BD49-111E-3D72-AE52-BF82E4A16AB6}"/>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C20F2F5-7004-B254-873F-63DAD72873DB}"/>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Drawbacks of Existing Methods </a:t>
            </a:r>
          </a:p>
        </p:txBody>
      </p:sp>
      <p:sp>
        <p:nvSpPr>
          <p:cNvPr id="115" name="Google Shape;115;p17">
            <a:extLst>
              <a:ext uri="{FF2B5EF4-FFF2-40B4-BE49-F238E27FC236}">
                <a16:creationId xmlns:a16="http://schemas.microsoft.com/office/drawing/2014/main" id="{C4157AF8-2087-F877-7BB5-D7B4E5DF22F8}"/>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92E5AE85-8981-342F-EBBD-AE81FB08034A}"/>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EC409D00-3E78-207F-B185-AC8636939975}"/>
              </a:ext>
            </a:extLst>
          </p:cNvPr>
          <p:cNvSpPr txBox="1">
            <a:spLocks/>
          </p:cNvSpPr>
          <p:nvPr/>
        </p:nvSpPr>
        <p:spPr>
          <a:xfrm>
            <a:off x="584200" y="1005880"/>
            <a:ext cx="11125200" cy="5227240"/>
          </a:xfrm>
          <a:prstGeom prst="rect">
            <a:avLst/>
          </a:prstGeom>
          <a:no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US" b="1" dirty="0">
                <a:latin typeface="Cambria" panose="02040503050406030204" pitchFamily="18" charset="0"/>
                <a:ea typeface="Cambria" panose="02040503050406030204" pitchFamily="18" charset="0"/>
              </a:rPr>
              <a:t>Limited Intelligence:</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Rule-based chatbots fail when queries are outside predefined patterns.</a:t>
            </a:r>
          </a:p>
          <a:p>
            <a:r>
              <a:rPr lang="en-US" b="1" dirty="0">
                <a:latin typeface="Cambria" panose="02040503050406030204" pitchFamily="18" charset="0"/>
                <a:ea typeface="Cambria" panose="02040503050406030204" pitchFamily="18" charset="0"/>
              </a:rPr>
              <a:t>Poor Multilingual Support:</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Current systems mostly support English, little to no Punjabi/Hindi coverage.</a:t>
            </a:r>
          </a:p>
          <a:p>
            <a:r>
              <a:rPr lang="en-US" b="1" dirty="0">
                <a:latin typeface="Cambria" panose="02040503050406030204" pitchFamily="18" charset="0"/>
                <a:ea typeface="Cambria" panose="02040503050406030204" pitchFamily="18" charset="0"/>
              </a:rPr>
              <a:t>High Navigation Effort:</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Users must browse multiple modules manually (as in PGRKAM portal now).</a:t>
            </a:r>
          </a:p>
          <a:p>
            <a:r>
              <a:rPr lang="en-US" b="1" dirty="0">
                <a:latin typeface="Cambria" panose="02040503050406030204" pitchFamily="18" charset="0"/>
                <a:ea typeface="Cambria" panose="02040503050406030204" pitchFamily="18" charset="0"/>
              </a:rPr>
              <a:t>Lack of Personalization:</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No mechanism to remember candidate history, preferences, or past interactions.</a:t>
            </a:r>
          </a:p>
          <a:p>
            <a:r>
              <a:rPr lang="en-US" b="1" dirty="0">
                <a:latin typeface="Cambria" panose="02040503050406030204" pitchFamily="18" charset="0"/>
                <a:ea typeface="Cambria" panose="02040503050406030204" pitchFamily="18" charset="0"/>
              </a:rPr>
              <a:t>Accessibility Gaps:</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Screen-reader compatibility is low, making it difficult for visually impaired users.</a:t>
            </a:r>
          </a:p>
          <a:p>
            <a:r>
              <a:rPr lang="en-US" b="1" dirty="0">
                <a:latin typeface="Cambria" panose="02040503050406030204" pitchFamily="18" charset="0"/>
                <a:ea typeface="Cambria" panose="02040503050406030204" pitchFamily="18" charset="0"/>
              </a:rPr>
              <a:t>Fragmented Experience:</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No single assistant integrates job search, skill development, counseling, and foreign job/study options in one place.</a:t>
            </a:r>
          </a:p>
        </p:txBody>
      </p:sp>
    </p:spTree>
    <p:extLst>
      <p:ext uri="{BB962C8B-B14F-4D97-AF65-F5344CB8AC3E}">
        <p14:creationId xmlns:p14="http://schemas.microsoft.com/office/powerpoint/2010/main" val="2623116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E9408-DC3A-2DF7-DEF2-DFF5F620B739}"/>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P</a:t>
            </a:r>
            <a:r>
              <a:rPr lang="en-IN" dirty="0">
                <a:latin typeface="Cambria" panose="02040503050406030204" pitchFamily="18" charset="0"/>
                <a:ea typeface="Cambria" panose="02040503050406030204" pitchFamily="18" charset="0"/>
              </a:rPr>
              <a:t>roposed Methods</a:t>
            </a:r>
          </a:p>
        </p:txBody>
      </p:sp>
      <p:sp>
        <p:nvSpPr>
          <p:cNvPr id="3" name="Text Placeholder 2">
            <a:extLst>
              <a:ext uri="{FF2B5EF4-FFF2-40B4-BE49-F238E27FC236}">
                <a16:creationId xmlns:a16="http://schemas.microsoft.com/office/drawing/2014/main" id="{B6FD2D36-2FC6-D90B-40D3-BB3E609E9FD9}"/>
              </a:ext>
            </a:extLst>
          </p:cNvPr>
          <p:cNvSpPr>
            <a:spLocks noGrp="1"/>
          </p:cNvSpPr>
          <p:nvPr>
            <p:ph type="body" idx="1"/>
          </p:nvPr>
        </p:nvSpPr>
        <p:spPr/>
        <p:txBody>
          <a:bodyPr/>
          <a:lstStyle/>
          <a:p>
            <a:pPr lvl="0"/>
            <a:r>
              <a:rPr lang="en-IN" b="1" dirty="0">
                <a:latin typeface="Cambria" panose="02040503050406030204" pitchFamily="18" charset="0"/>
                <a:ea typeface="Cambria" panose="02040503050406030204" pitchFamily="18" charset="0"/>
              </a:rPr>
              <a:t>Multilingual Conversational Interface:</a:t>
            </a:r>
            <a:r>
              <a:rPr lang="en-IN" dirty="0">
                <a:latin typeface="Cambria" panose="02040503050406030204" pitchFamily="18" charset="0"/>
                <a:ea typeface="Cambria" panose="02040503050406030204" pitchFamily="18" charset="0"/>
              </a:rPr>
              <a:t> Supports Punjabi, Hindi, and English for wider regional accessibility.</a:t>
            </a:r>
          </a:p>
          <a:p>
            <a:pPr lvl="0"/>
            <a:r>
              <a:rPr lang="en-IN" b="1" dirty="0">
                <a:latin typeface="Cambria" panose="02040503050406030204" pitchFamily="18" charset="0"/>
                <a:ea typeface="Cambria" panose="02040503050406030204" pitchFamily="18" charset="0"/>
              </a:rPr>
              <a:t>Voice-Enabled Interaction:</a:t>
            </a:r>
            <a:r>
              <a:rPr lang="en-IN" dirty="0">
                <a:latin typeface="Cambria" panose="02040503050406030204" pitchFamily="18" charset="0"/>
                <a:ea typeface="Cambria" panose="02040503050406030204" pitchFamily="18" charset="0"/>
              </a:rPr>
              <a:t> Facilitates both speech input and audio output for improved usability.</a:t>
            </a:r>
          </a:p>
          <a:p>
            <a:pPr lvl="0"/>
            <a:r>
              <a:rPr lang="en-IN" b="1" dirty="0">
                <a:latin typeface="Cambria" panose="02040503050406030204" pitchFamily="18" charset="0"/>
                <a:ea typeface="Cambria" panose="02040503050406030204" pitchFamily="18" charset="0"/>
              </a:rPr>
              <a:t>Personalized Recommendations:</a:t>
            </a:r>
            <a:r>
              <a:rPr lang="en-IN" dirty="0">
                <a:latin typeface="Cambria" panose="02040503050406030204" pitchFamily="18" charset="0"/>
                <a:ea typeface="Cambria" panose="02040503050406030204" pitchFamily="18" charset="0"/>
              </a:rPr>
              <a:t> Utilizes user history and preferences to deliver targeted job and skill suggestions.</a:t>
            </a:r>
          </a:p>
          <a:p>
            <a:pPr lvl="0"/>
            <a:r>
              <a:rPr lang="en-IN" b="1" dirty="0">
                <a:latin typeface="Cambria" panose="02040503050406030204" pitchFamily="18" charset="0"/>
                <a:ea typeface="Cambria" panose="02040503050406030204" pitchFamily="18" charset="0"/>
              </a:rPr>
              <a:t>Accessibility Integration:</a:t>
            </a:r>
            <a:r>
              <a:rPr lang="en-IN" dirty="0">
                <a:latin typeface="Cambria" panose="02040503050406030204" pitchFamily="18" charset="0"/>
                <a:ea typeface="Cambria" panose="02040503050406030204" pitchFamily="18" charset="0"/>
              </a:rPr>
              <a:t> Incorporates a screen-reading module to assist visually impaired users.</a:t>
            </a:r>
          </a:p>
          <a:p>
            <a:pPr lvl="0"/>
            <a:r>
              <a:rPr lang="en-IN" b="1" dirty="0">
                <a:latin typeface="Cambria" panose="02040503050406030204" pitchFamily="18" charset="0"/>
                <a:ea typeface="Cambria" panose="02040503050406030204" pitchFamily="18" charset="0"/>
              </a:rPr>
              <a:t>Seamless Platform Integration:</a:t>
            </a:r>
            <a:r>
              <a:rPr lang="en-IN" dirty="0">
                <a:latin typeface="Cambria" panose="02040503050406030204" pitchFamily="18" charset="0"/>
                <a:ea typeface="Cambria" panose="02040503050406030204" pitchFamily="18" charset="0"/>
              </a:rPr>
              <a:t> Designed to work across both web and mobile versions of the PGRKAM platform.</a:t>
            </a:r>
          </a:p>
          <a:p>
            <a:pPr lvl="0"/>
            <a:r>
              <a:rPr lang="en-IN" b="1" dirty="0">
                <a:latin typeface="Cambria" panose="02040503050406030204" pitchFamily="18" charset="0"/>
                <a:ea typeface="Cambria" panose="02040503050406030204" pitchFamily="18" charset="0"/>
              </a:rPr>
              <a:t>Context-Aware Navigation:</a:t>
            </a:r>
            <a:r>
              <a:rPr lang="en-IN" dirty="0">
                <a:latin typeface="Cambria" panose="02040503050406030204" pitchFamily="18" charset="0"/>
                <a:ea typeface="Cambria" panose="02040503050406030204" pitchFamily="18" charset="0"/>
              </a:rPr>
              <a:t> Directs users to the most relevant services without manual browsing.</a:t>
            </a:r>
          </a:p>
          <a:p>
            <a:endParaRPr lang="en-IN" dirty="0"/>
          </a:p>
        </p:txBody>
      </p:sp>
    </p:spTree>
    <p:extLst>
      <p:ext uri="{BB962C8B-B14F-4D97-AF65-F5344CB8AC3E}">
        <p14:creationId xmlns:p14="http://schemas.microsoft.com/office/powerpoint/2010/main" val="1868603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Feasibility Study</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B1699C13-DF69-F0CD-B0B5-AAD40B31B357}"/>
              </a:ext>
            </a:extLst>
          </p:cNvPr>
          <p:cNvSpPr>
            <a:spLocks noChangeArrowheads="1"/>
          </p:cNvSpPr>
          <p:nvPr/>
        </p:nvSpPr>
        <p:spPr bwMode="auto">
          <a:xfrm>
            <a:off x="812800" y="1359165"/>
            <a:ext cx="5881738"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Frontend:</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HTML5, CSS3, JavaScript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Backend:</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Java (Spring Boot / Servlets)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Database:</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MySQL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Server:</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Apache Tomcat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Version Control:</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Git, GitHub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Tools:</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VS Code, Eclipse/IntelliJ</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Build Tool:</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Maven</a:t>
            </a:r>
          </a:p>
        </p:txBody>
      </p:sp>
    </p:spTree>
    <p:extLst>
      <p:ext uri="{BB962C8B-B14F-4D97-AF65-F5344CB8AC3E}">
        <p14:creationId xmlns:p14="http://schemas.microsoft.com/office/powerpoint/2010/main" val="1030816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Architecture Diagram</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2633030"/>
            <a:ext cx="10668000" cy="268826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A6CD354C-98C6-4F58-FB0A-3EA1C46AD74A}"/>
              </a:ext>
            </a:extLst>
          </p:cNvPr>
          <p:cNvPicPr>
            <a:picLocks noChangeAspect="1"/>
          </p:cNvPicPr>
          <p:nvPr/>
        </p:nvPicPr>
        <p:blipFill>
          <a:blip r:embed="rId3"/>
          <a:stretch>
            <a:fillRect/>
          </a:stretch>
        </p:blipFill>
        <p:spPr>
          <a:xfrm>
            <a:off x="939800" y="1143000"/>
            <a:ext cx="10287000" cy="4865916"/>
          </a:xfrm>
          <a:prstGeom prst="rect">
            <a:avLst/>
          </a:prstGeom>
        </p:spPr>
      </p:pic>
    </p:spTree>
    <p:extLst>
      <p:ext uri="{BB962C8B-B14F-4D97-AF65-F5344CB8AC3E}">
        <p14:creationId xmlns:p14="http://schemas.microsoft.com/office/powerpoint/2010/main" val="285635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50177E5F-B5F6-8E85-6BC7-348C45DD318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F5669D19-D035-205F-9E7C-43509AF387EF}"/>
              </a:ext>
            </a:extLst>
          </p:cNvPr>
          <p:cNvSpPr txBox="1">
            <a:spLocks noGrp="1"/>
          </p:cNvSpPr>
          <p:nvPr>
            <p:ph type="title"/>
          </p:nvPr>
        </p:nvSpPr>
        <p:spPr>
          <a:xfrm>
            <a:off x="711200" y="330017"/>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Module Description</a:t>
            </a:r>
          </a:p>
        </p:txBody>
      </p:sp>
      <p:sp>
        <p:nvSpPr>
          <p:cNvPr id="115" name="Google Shape;115;p17">
            <a:extLst>
              <a:ext uri="{FF2B5EF4-FFF2-40B4-BE49-F238E27FC236}">
                <a16:creationId xmlns:a16="http://schemas.microsoft.com/office/drawing/2014/main" id="{3CB29542-B004-7C20-176F-81BD5B2FF91C}"/>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307DE5F6-920D-B6F7-4046-3A60466699E4}"/>
              </a:ext>
            </a:extLst>
          </p:cNvPr>
          <p:cNvSpPr txBox="1">
            <a:spLocks/>
          </p:cNvSpPr>
          <p:nvPr/>
        </p:nvSpPr>
        <p:spPr>
          <a:xfrm>
            <a:off x="567981" y="174186"/>
            <a:ext cx="10668000" cy="4953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User Interaction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Web &amp; mobile chatbot interface.</a:t>
            </a:r>
          </a:p>
          <a:p>
            <a:pPr lvl="1"/>
            <a:r>
              <a:rPr lang="en-IN" sz="2400" dirty="0">
                <a:latin typeface="Cambria" panose="02040503050406030204" pitchFamily="18" charset="0"/>
                <a:ea typeface="Cambria" panose="02040503050406030204" pitchFamily="18" charset="0"/>
              </a:rPr>
              <a:t>Supports text, voice input, and audio responses.</a:t>
            </a:r>
          </a:p>
          <a:p>
            <a:r>
              <a:rPr lang="en-IN" b="1" dirty="0">
                <a:latin typeface="Cambria" panose="02040503050406030204" pitchFamily="18" charset="0"/>
                <a:ea typeface="Cambria" panose="02040503050406030204" pitchFamily="18" charset="0"/>
              </a:rPr>
              <a:t>Language Processing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Multilingual (Punjabi/Hindi/English).</a:t>
            </a:r>
          </a:p>
          <a:p>
            <a:pPr lvl="1"/>
            <a:r>
              <a:rPr lang="en-IN" sz="2400" dirty="0">
                <a:latin typeface="Cambria" panose="02040503050406030204" pitchFamily="18" charset="0"/>
                <a:ea typeface="Cambria" panose="02040503050406030204" pitchFamily="18" charset="0"/>
              </a:rPr>
              <a:t>Speech-to-Text, Text-to-Speech, intent recognition via LLM.</a:t>
            </a:r>
          </a:p>
          <a:p>
            <a:r>
              <a:rPr lang="en-IN" b="1" dirty="0">
                <a:latin typeface="Cambria" panose="02040503050406030204" pitchFamily="18" charset="0"/>
                <a:ea typeface="Cambria" panose="02040503050406030204" pitchFamily="18" charset="0"/>
              </a:rPr>
              <a:t>Recommendation &amp; Personalization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Profile &amp; history-based filtering.</a:t>
            </a:r>
          </a:p>
          <a:p>
            <a:pPr lvl="1"/>
            <a:r>
              <a:rPr lang="en-IN" sz="2400" dirty="0">
                <a:latin typeface="Cambria" panose="02040503050406030204" pitchFamily="18" charset="0"/>
                <a:ea typeface="Cambria" panose="02040503050406030204" pitchFamily="18" charset="0"/>
              </a:rPr>
              <a:t>Suggests jobs, skills, and counseling options.</a:t>
            </a:r>
          </a:p>
          <a:p>
            <a:r>
              <a:rPr lang="en-IN" b="1" dirty="0">
                <a:latin typeface="Cambria" panose="02040503050406030204" pitchFamily="18" charset="0"/>
                <a:ea typeface="Cambria" panose="02040503050406030204" pitchFamily="18" charset="0"/>
              </a:rPr>
              <a:t>Integration &amp; Middleware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Connects chatbot with PGRKAM APIs.</a:t>
            </a:r>
          </a:p>
          <a:p>
            <a:pPr lvl="1"/>
            <a:r>
              <a:rPr lang="en-IN" sz="2400" dirty="0">
                <a:latin typeface="Cambria" panose="02040503050406030204" pitchFamily="18" charset="0"/>
                <a:ea typeface="Cambria" panose="02040503050406030204" pitchFamily="18" charset="0"/>
              </a:rPr>
              <a:t>Maintains session context for smooth navigation.</a:t>
            </a: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lvl="1"/>
            <a:endParaRPr lang="en-IN" sz="24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488B8332-CE8D-C4C0-7AB4-AD80FC68FF32}"/>
              </a:ext>
            </a:extLst>
          </p:cNvPr>
          <p:cNvSpPr txBox="1">
            <a:spLocks/>
          </p:cNvSpPr>
          <p:nvPr/>
        </p:nvSpPr>
        <p:spPr>
          <a:xfrm>
            <a:off x="424761" y="330017"/>
            <a:ext cx="10668000" cy="433069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07722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5E1FAF7-BE48-5CED-4EA6-527819C08E10}"/>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458F431-436B-80E2-F09E-545A868DE842}"/>
              </a:ext>
            </a:extLst>
          </p:cNvPr>
          <p:cNvSpPr txBox="1">
            <a:spLocks noGrp="1"/>
          </p:cNvSpPr>
          <p:nvPr>
            <p:ph type="title"/>
          </p:nvPr>
        </p:nvSpPr>
        <p:spPr>
          <a:xfrm>
            <a:off x="711200" y="330017"/>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Module Description</a:t>
            </a:r>
          </a:p>
        </p:txBody>
      </p:sp>
      <p:sp>
        <p:nvSpPr>
          <p:cNvPr id="115" name="Google Shape;115;p17">
            <a:extLst>
              <a:ext uri="{FF2B5EF4-FFF2-40B4-BE49-F238E27FC236}">
                <a16:creationId xmlns:a16="http://schemas.microsoft.com/office/drawing/2014/main" id="{42EE1055-B29C-F604-882B-1639CDFD6640}"/>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4B3889E2-024B-4B05-08E2-B089DBDC8D6C}"/>
              </a:ext>
            </a:extLst>
          </p:cNvPr>
          <p:cNvSpPr txBox="1">
            <a:spLocks/>
          </p:cNvSpPr>
          <p:nvPr/>
        </p:nvSpPr>
        <p:spPr>
          <a:xfrm>
            <a:off x="634082" y="251304"/>
            <a:ext cx="10668000" cy="4953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Database &amp; Storage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User profiles &amp; preferences (MySQL/Postgres).</a:t>
            </a:r>
          </a:p>
          <a:p>
            <a:pPr lvl="1"/>
            <a:r>
              <a:rPr lang="en-IN" sz="2400" dirty="0">
                <a:latin typeface="Cambria" panose="02040503050406030204" pitchFamily="18" charset="0"/>
                <a:ea typeface="Cambria" panose="02040503050406030204" pitchFamily="18" charset="0"/>
              </a:rPr>
              <a:t>Job listings + local cache for fast access.</a:t>
            </a:r>
          </a:p>
          <a:p>
            <a:r>
              <a:rPr lang="en-IN" b="1" dirty="0">
                <a:latin typeface="Cambria" panose="02040503050406030204" pitchFamily="18" charset="0"/>
                <a:ea typeface="Cambria" panose="02040503050406030204" pitchFamily="18" charset="0"/>
              </a:rPr>
              <a:t>Accessibility &amp; Support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Screen reader compatibility &amp; multilingual summaries.</a:t>
            </a:r>
          </a:p>
          <a:p>
            <a:pPr lvl="1"/>
            <a:r>
              <a:rPr lang="en-IN" sz="2400" dirty="0">
                <a:latin typeface="Cambria" panose="02040503050406030204" pitchFamily="18" charset="0"/>
                <a:ea typeface="Cambria" panose="02040503050406030204" pitchFamily="18" charset="0"/>
              </a:rPr>
              <a:t>Admin dashboard for monitoring &amp; updates.</a:t>
            </a: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lvl="1"/>
            <a:endParaRPr lang="en-IN" sz="24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16127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Software Requirements</a:t>
            </a:r>
          </a:p>
        </p:txBody>
      </p:sp>
      <p:sp>
        <p:nvSpPr>
          <p:cNvPr id="115" name="Google Shape;115;p17"/>
          <p:cNvSpPr txBox="1">
            <a:spLocks noGrp="1"/>
          </p:cNvSpPr>
          <p:nvPr>
            <p:ph type="body" idx="1"/>
          </p:nvPr>
        </p:nvSpPr>
        <p:spPr>
          <a:xfrm>
            <a:off x="762000" y="1272615"/>
            <a:ext cx="10668000" cy="5153891"/>
          </a:xfrm>
          <a:prstGeom prst="rect">
            <a:avLst/>
          </a:prstGeom>
          <a:noFill/>
          <a:ln>
            <a:noFill/>
          </a:ln>
        </p:spPr>
        <p:txBody>
          <a:bodyPr spcFirstLastPara="1" wrap="square" lIns="91425" tIns="45700" rIns="91425" bIns="45700" anchor="t" anchorCtr="0">
            <a:normAutofit/>
          </a:bodyPr>
          <a:lstStyle/>
          <a:p>
            <a:pPr lvl="0"/>
            <a:r>
              <a:rPr lang="en-IN" dirty="0">
                <a:latin typeface="Cambria" panose="02040503050406030204" pitchFamily="18" charset="0"/>
                <a:ea typeface="Cambria" panose="02040503050406030204" pitchFamily="18" charset="0"/>
              </a:rPr>
              <a:t>The current PGRKAM platform requires users to navigate multiple modules to locate relevant services or information.</a:t>
            </a:r>
          </a:p>
          <a:p>
            <a:pPr lvl="0"/>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This results in increased time consumption, reduced efficiency, and a suboptimal user experience.</a:t>
            </a:r>
          </a:p>
          <a:p>
            <a:pPr lvl="0"/>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The absence of an intelligent guidance mechanism limits accessibility for individuals with limited digital literacy or visual impairments.</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Software Requirements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lvl="0"/>
            <a:r>
              <a:rPr lang="en-IN" dirty="0">
                <a:latin typeface="Cambria" panose="02040503050406030204" pitchFamily="18" charset="0"/>
                <a:ea typeface="Cambria" panose="02040503050406030204" pitchFamily="18" charset="0"/>
              </a:rPr>
              <a:t>There is a clear requirement for an integrated, context-aware system to streamline user interaction with the platform.</a:t>
            </a:r>
          </a:p>
          <a:p>
            <a:pPr lvl="0"/>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A multilingual, voice-enabled AI chatbot with personalization capabilities can address these limitations effectively.</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4746B10B-1580-E0F2-C220-174CE7B5D494}"/>
              </a:ext>
            </a:extLst>
          </p:cNvPr>
          <p:cNvPicPr>
            <a:picLocks noChangeAspect="1"/>
          </p:cNvPicPr>
          <p:nvPr/>
        </p:nvPicPr>
        <p:blipFill>
          <a:blip r:embed="rId3"/>
          <a:stretch>
            <a:fillRect/>
          </a:stretch>
        </p:blipFill>
        <p:spPr>
          <a:xfrm>
            <a:off x="1085850" y="1051770"/>
            <a:ext cx="10703480" cy="5017559"/>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762000" y="975159"/>
            <a:ext cx="10668000" cy="5153892"/>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[1] T. B. Brown </a:t>
            </a:r>
            <a:r>
              <a:rPr lang="en-IN" b="1" i="1" dirty="0">
                <a:latin typeface="Cambria" panose="02040503050406030204" pitchFamily="18" charset="0"/>
                <a:ea typeface="Cambria" panose="02040503050406030204" pitchFamily="18" charset="0"/>
              </a:rPr>
              <a:t>et al.</a:t>
            </a:r>
            <a:r>
              <a:rPr lang="en-IN" b="1" dirty="0">
                <a:latin typeface="Cambria" panose="02040503050406030204" pitchFamily="18" charset="0"/>
                <a:ea typeface="Cambria" panose="02040503050406030204" pitchFamily="18" charset="0"/>
              </a:rPr>
              <a:t>, “Language Models are Few-Shot Learners,” </a:t>
            </a:r>
            <a:r>
              <a:rPr lang="en-IN" b="1" i="1" dirty="0">
                <a:latin typeface="Cambria" panose="02040503050406030204" pitchFamily="18" charset="0"/>
                <a:ea typeface="Cambria" panose="02040503050406030204" pitchFamily="18" charset="0"/>
              </a:rPr>
              <a:t>NeurIPS</a:t>
            </a:r>
            <a:r>
              <a:rPr lang="en-IN" b="1" dirty="0">
                <a:latin typeface="Cambria" panose="02040503050406030204" pitchFamily="18" charset="0"/>
                <a:ea typeface="Cambria" panose="02040503050406030204" pitchFamily="18" charset="0"/>
              </a:rPr>
              <a:t>, 2020. </a:t>
            </a:r>
            <a:r>
              <a:rPr lang="en-IN" b="1" u="sng" dirty="0">
                <a:latin typeface="Cambria" panose="02040503050406030204" pitchFamily="18" charset="0"/>
                <a:ea typeface="Cambria" panose="02040503050406030204" pitchFamily="18" charset="0"/>
                <a:hlinkClick r:id="rId3"/>
              </a:rPr>
              <a:t>https://proceedings.neurips.cc/paper/2020/file/1457c0d6bfcb4967418bfb8ac142f64a-Paper.pdfhttps://www.mdpi.com/1424-8220/21/24/8448https://proceedings.neurips.cc/paper/2020/file/1457c0d6bfcb4967418bfb8ac142f64a-Paper.pdf</a:t>
            </a:r>
            <a:endParaRPr lang="en-IN" b="1" u="sng"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[2] M. Allouch, A. Azaria, and R. Azoulay, “Conversational Agents: Goals, Technologies, Vision and Challenges,” </a:t>
            </a:r>
            <a:r>
              <a:rPr lang="en-IN" b="1" i="1" dirty="0">
                <a:latin typeface="Cambria" panose="02040503050406030204" pitchFamily="18" charset="0"/>
                <a:ea typeface="Cambria" panose="02040503050406030204" pitchFamily="18" charset="0"/>
              </a:rPr>
              <a:t>Sensors</a:t>
            </a:r>
            <a:r>
              <a:rPr lang="en-IN" b="1" dirty="0">
                <a:latin typeface="Cambria" panose="02040503050406030204" pitchFamily="18" charset="0"/>
                <a:ea typeface="Cambria" panose="02040503050406030204" pitchFamily="18" charset="0"/>
              </a:rPr>
              <a:t>, vol. 21, no. 24, art. 8448, 2021. </a:t>
            </a:r>
            <a:endParaRPr lang="en-IN" sz="1600"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hlinkClick r:id="rId4"/>
              </a:rPr>
              <a:t>    </a:t>
            </a:r>
            <a:r>
              <a:rPr lang="en-IN" b="1" u="sng" dirty="0">
                <a:latin typeface="Cambria" panose="02040503050406030204" pitchFamily="18" charset="0"/>
                <a:ea typeface="Cambria" panose="02040503050406030204" pitchFamily="18" charset="0"/>
                <a:hlinkClick r:id="rId4"/>
              </a:rPr>
              <a:t>https://www.mdpi.com/1424-8220/21/24/8448</a:t>
            </a:r>
            <a:endParaRPr lang="en-IN" sz="1600"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FADB6-81C7-36F7-9339-7F8A04868D53}"/>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(IEEE Paper format)</a:t>
            </a:r>
            <a:endParaRPr lang="en-IN" dirty="0"/>
          </a:p>
        </p:txBody>
      </p:sp>
      <p:sp>
        <p:nvSpPr>
          <p:cNvPr id="3" name="Text Placeholder 2">
            <a:extLst>
              <a:ext uri="{FF2B5EF4-FFF2-40B4-BE49-F238E27FC236}">
                <a16:creationId xmlns:a16="http://schemas.microsoft.com/office/drawing/2014/main" id="{B327127E-3F0F-D872-08CB-ABC15B058A0D}"/>
              </a:ext>
            </a:extLst>
          </p:cNvPr>
          <p:cNvSpPr>
            <a:spLocks noGrp="1"/>
          </p:cNvSpPr>
          <p:nvPr>
            <p:ph type="body" idx="1"/>
          </p:nvPr>
        </p:nvSpPr>
        <p:spPr>
          <a:xfrm>
            <a:off x="628072" y="1562948"/>
            <a:ext cx="11037455" cy="4573447"/>
          </a:xfrm>
        </p:spPr>
        <p:txBody>
          <a:bodyPr/>
          <a:lstStyle/>
          <a:p>
            <a:r>
              <a:rPr lang="en-IN" b="1" dirty="0">
                <a:latin typeface="Cambria" panose="02040503050406030204" pitchFamily="18" charset="0"/>
                <a:ea typeface="Cambria" panose="02040503050406030204" pitchFamily="18" charset="0"/>
              </a:rPr>
              <a:t>[3] S. Kusal </a:t>
            </a:r>
            <a:r>
              <a:rPr lang="en-IN" b="1" i="1" dirty="0">
                <a:latin typeface="Cambria" panose="02040503050406030204" pitchFamily="18" charset="0"/>
                <a:ea typeface="Cambria" panose="02040503050406030204" pitchFamily="18" charset="0"/>
              </a:rPr>
              <a:t>et al.</a:t>
            </a:r>
            <a:r>
              <a:rPr lang="en-IN" b="1" dirty="0">
                <a:latin typeface="Cambria" panose="02040503050406030204" pitchFamily="18" charset="0"/>
                <a:ea typeface="Cambria" panose="02040503050406030204" pitchFamily="18" charset="0"/>
              </a:rPr>
              <a:t>, “AI-Based Conversational Agents: A Scoping Review From Technologies to Future Directions,” </a:t>
            </a:r>
            <a:r>
              <a:rPr lang="en-IN" b="1" i="1" dirty="0">
                <a:latin typeface="Cambria" panose="02040503050406030204" pitchFamily="18" charset="0"/>
                <a:ea typeface="Cambria" panose="02040503050406030204" pitchFamily="18" charset="0"/>
              </a:rPr>
              <a:t>IEEE Access</a:t>
            </a:r>
            <a:r>
              <a:rPr lang="en-IN" b="1" dirty="0">
                <a:latin typeface="Cambria" panose="02040503050406030204" pitchFamily="18" charset="0"/>
                <a:ea typeface="Cambria" panose="02040503050406030204" pitchFamily="18" charset="0"/>
              </a:rPr>
              <a:t>, 2022.</a:t>
            </a:r>
            <a:r>
              <a:rPr lang="en-IN" b="1" u="sng" dirty="0">
                <a:latin typeface="Cambria" panose="02040503050406030204" pitchFamily="18" charset="0"/>
                <a:ea typeface="Cambria" panose="02040503050406030204" pitchFamily="18" charset="0"/>
                <a:hlinkClick r:id="rId2"/>
              </a:rPr>
              <a:t> </a:t>
            </a:r>
            <a:r>
              <a:rPr lang="en-IN" b="1" u="sng" dirty="0">
                <a:latin typeface="Cambria" panose="02040503050406030204" pitchFamily="18" charset="0"/>
                <a:ea typeface="Cambria" panose="02040503050406030204" pitchFamily="18" charset="0"/>
                <a:hlinkClick r:id="rId3"/>
              </a:rPr>
              <a:t>https://doi.org/10.1109/ACCESS.2022.3201144</a:t>
            </a:r>
            <a:endParaRPr lang="en-IN" b="1" u="sng"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[4] N. M. Radziwill and M. C. Benton, “Evaluating Quality of Chatbots and Intelligent Conversational Agents,” </a:t>
            </a:r>
            <a:r>
              <a:rPr lang="en-IN" b="1" i="1" dirty="0">
                <a:latin typeface="Cambria" panose="02040503050406030204" pitchFamily="18" charset="0"/>
                <a:ea typeface="Cambria" panose="02040503050406030204" pitchFamily="18" charset="0"/>
              </a:rPr>
              <a:t>arXiv preprint</a:t>
            </a:r>
            <a:r>
              <a:rPr lang="en-IN" b="1" dirty="0">
                <a:latin typeface="Cambria" panose="02040503050406030204" pitchFamily="18" charset="0"/>
                <a:ea typeface="Cambria" panose="02040503050406030204" pitchFamily="18" charset="0"/>
              </a:rPr>
              <a:t>, 2017. </a:t>
            </a:r>
            <a:r>
              <a:rPr lang="en-IN" b="1" u="sng" dirty="0">
                <a:latin typeface="Cambria" panose="02040503050406030204" pitchFamily="18" charset="0"/>
                <a:ea typeface="Cambria" panose="02040503050406030204" pitchFamily="18" charset="0"/>
                <a:hlinkClick r:id="rId4"/>
              </a:rPr>
              <a:t>https://arxiv.org/abs/1704.04579</a:t>
            </a:r>
            <a:endParaRPr lang="en-IN" b="1" u="sng"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[5] J. Gao, M. Galley, and L. Li, “Neural Approaches to Conversational AI,” </a:t>
            </a:r>
            <a:r>
              <a:rPr lang="en-IN" b="1" i="1" dirty="0">
                <a:latin typeface="Cambria" panose="02040503050406030204" pitchFamily="18" charset="0"/>
                <a:ea typeface="Cambria" panose="02040503050406030204" pitchFamily="18" charset="0"/>
              </a:rPr>
              <a:t>arXiv preprint</a:t>
            </a:r>
            <a:r>
              <a:rPr lang="en-IN" b="1" dirty="0">
                <a:latin typeface="Cambria" panose="02040503050406030204" pitchFamily="18" charset="0"/>
                <a:ea typeface="Cambria" panose="02040503050406030204" pitchFamily="18" charset="0"/>
              </a:rPr>
              <a:t>, 2018. </a:t>
            </a:r>
            <a:r>
              <a:rPr lang="en-IN" b="1" u="sng" dirty="0">
                <a:latin typeface="Cambria" panose="02040503050406030204" pitchFamily="18" charset="0"/>
                <a:ea typeface="Cambria" panose="02040503050406030204" pitchFamily="18" charset="0"/>
                <a:hlinkClick r:id="rId5"/>
              </a:rPr>
              <a:t>https://arxiv.org/abs/1809.08267</a:t>
            </a:r>
            <a:endParaRPr lang="en-IN" sz="1600"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92729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E14BE-052E-EEDF-83DD-ABE471304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B2E61-315C-A733-77A7-D31DBD04DD57}"/>
              </a:ext>
            </a:extLst>
          </p:cNvPr>
          <p:cNvSpPr>
            <a:spLocks noGrp="1"/>
          </p:cNvSpPr>
          <p:nvPr>
            <p:ph type="title"/>
          </p:nvPr>
        </p:nvSpPr>
        <p:spPr/>
        <p:txBody>
          <a:bodyPr/>
          <a:lstStyle/>
          <a:p>
            <a:r>
              <a:rPr lang="en-US" dirty="0"/>
              <a:t>Project Output </a:t>
            </a:r>
            <a:endParaRPr lang="en-IN" dirty="0"/>
          </a:p>
        </p:txBody>
      </p:sp>
      <p:pic>
        <p:nvPicPr>
          <p:cNvPr id="5" name="Picture 4">
            <a:extLst>
              <a:ext uri="{FF2B5EF4-FFF2-40B4-BE49-F238E27FC236}">
                <a16:creationId xmlns:a16="http://schemas.microsoft.com/office/drawing/2014/main" id="{C4BFFB26-9AAD-A3E7-0245-F1529495F6B4}"/>
              </a:ext>
            </a:extLst>
          </p:cNvPr>
          <p:cNvPicPr>
            <a:picLocks noChangeAspect="1"/>
          </p:cNvPicPr>
          <p:nvPr/>
        </p:nvPicPr>
        <p:blipFill>
          <a:blip r:embed="rId2"/>
          <a:stretch>
            <a:fillRect/>
          </a:stretch>
        </p:blipFill>
        <p:spPr>
          <a:xfrm>
            <a:off x="1197429" y="1045028"/>
            <a:ext cx="9829800" cy="4953001"/>
          </a:xfrm>
          <a:prstGeom prst="rect">
            <a:avLst/>
          </a:prstGeom>
        </p:spPr>
      </p:pic>
    </p:spTree>
    <p:extLst>
      <p:ext uri="{BB962C8B-B14F-4D97-AF65-F5344CB8AC3E}">
        <p14:creationId xmlns:p14="http://schemas.microsoft.com/office/powerpoint/2010/main" val="325934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8E5D-D0BA-E990-0CA1-69904B350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9CAE9D-0B88-251B-DC74-192EBA2BC9DD}"/>
              </a:ext>
            </a:extLst>
          </p:cNvPr>
          <p:cNvSpPr>
            <a:spLocks noGrp="1"/>
          </p:cNvSpPr>
          <p:nvPr>
            <p:ph type="title"/>
          </p:nvPr>
        </p:nvSpPr>
        <p:spPr/>
        <p:txBody>
          <a:bodyPr/>
          <a:lstStyle/>
          <a:p>
            <a:r>
              <a:rPr lang="en-US" dirty="0"/>
              <a:t>Project Output </a:t>
            </a:r>
            <a:endParaRPr lang="en-IN" dirty="0"/>
          </a:p>
        </p:txBody>
      </p:sp>
      <p:pic>
        <p:nvPicPr>
          <p:cNvPr id="5" name="Picture 4">
            <a:extLst>
              <a:ext uri="{FF2B5EF4-FFF2-40B4-BE49-F238E27FC236}">
                <a16:creationId xmlns:a16="http://schemas.microsoft.com/office/drawing/2014/main" id="{17A028A1-AE42-02C9-B2D0-296B2AB707F1}"/>
              </a:ext>
            </a:extLst>
          </p:cNvPr>
          <p:cNvPicPr>
            <a:picLocks noChangeAspect="1"/>
          </p:cNvPicPr>
          <p:nvPr/>
        </p:nvPicPr>
        <p:blipFill>
          <a:blip r:embed="rId2"/>
          <a:stretch>
            <a:fillRect/>
          </a:stretch>
        </p:blipFill>
        <p:spPr>
          <a:xfrm>
            <a:off x="1142999" y="1175658"/>
            <a:ext cx="10337801" cy="4669972"/>
          </a:xfrm>
          <a:prstGeom prst="rect">
            <a:avLst/>
          </a:prstGeom>
        </p:spPr>
      </p:pic>
    </p:spTree>
    <p:extLst>
      <p:ext uri="{BB962C8B-B14F-4D97-AF65-F5344CB8AC3E}">
        <p14:creationId xmlns:p14="http://schemas.microsoft.com/office/powerpoint/2010/main" val="2867210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D024C-32FF-C181-9C99-2F7E45E03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C945B-8915-AFAC-609F-DEDC936D371C}"/>
              </a:ext>
            </a:extLst>
          </p:cNvPr>
          <p:cNvSpPr>
            <a:spLocks noGrp="1"/>
          </p:cNvSpPr>
          <p:nvPr>
            <p:ph type="title"/>
          </p:nvPr>
        </p:nvSpPr>
        <p:spPr/>
        <p:txBody>
          <a:bodyPr/>
          <a:lstStyle/>
          <a:p>
            <a:r>
              <a:rPr lang="en-US" dirty="0" err="1"/>
              <a:t>Github</a:t>
            </a:r>
            <a:r>
              <a:rPr lang="en-US" dirty="0"/>
              <a:t> </a:t>
            </a:r>
            <a:endParaRPr lang="en-IN" dirty="0"/>
          </a:p>
        </p:txBody>
      </p:sp>
      <p:pic>
        <p:nvPicPr>
          <p:cNvPr id="5" name="Picture 4">
            <a:extLst>
              <a:ext uri="{FF2B5EF4-FFF2-40B4-BE49-F238E27FC236}">
                <a16:creationId xmlns:a16="http://schemas.microsoft.com/office/drawing/2014/main" id="{A2016C4D-6FC4-39EE-3C28-BE17E2841C1E}"/>
              </a:ext>
            </a:extLst>
          </p:cNvPr>
          <p:cNvPicPr>
            <a:picLocks noChangeAspect="1"/>
          </p:cNvPicPr>
          <p:nvPr/>
        </p:nvPicPr>
        <p:blipFill>
          <a:blip r:embed="rId2"/>
          <a:stretch>
            <a:fillRect/>
          </a:stretch>
        </p:blipFill>
        <p:spPr>
          <a:xfrm>
            <a:off x="727528" y="1299471"/>
            <a:ext cx="11041743" cy="4528458"/>
          </a:xfrm>
          <a:prstGeom prst="rect">
            <a:avLst/>
          </a:prstGeom>
        </p:spPr>
      </p:pic>
      <p:sp>
        <p:nvSpPr>
          <p:cNvPr id="6" name="TextBox 5">
            <a:extLst>
              <a:ext uri="{FF2B5EF4-FFF2-40B4-BE49-F238E27FC236}">
                <a16:creationId xmlns:a16="http://schemas.microsoft.com/office/drawing/2014/main" id="{E4199DE4-E37E-1EB8-FDBE-18734DAB4D9D}"/>
              </a:ext>
            </a:extLst>
          </p:cNvPr>
          <p:cNvSpPr txBox="1"/>
          <p:nvPr/>
        </p:nvSpPr>
        <p:spPr>
          <a:xfrm>
            <a:off x="1270000" y="960917"/>
            <a:ext cx="7402286" cy="307777"/>
          </a:xfrm>
          <a:prstGeom prst="rect">
            <a:avLst/>
          </a:prstGeom>
          <a:noFill/>
        </p:spPr>
        <p:txBody>
          <a:bodyPr wrap="square" rtlCol="0">
            <a:spAutoFit/>
          </a:bodyPr>
          <a:lstStyle/>
          <a:p>
            <a:r>
              <a:rPr lang="en-IN" dirty="0">
                <a:hlinkClick r:id="rId3"/>
              </a:rPr>
              <a:t>https://github.com/VBALAJI2004-pu/PGRKAM_CapstoneProject_CSE_62</a:t>
            </a:r>
            <a:endParaRPr lang="en-IN" dirty="0"/>
          </a:p>
        </p:txBody>
      </p:sp>
      <p:sp>
        <p:nvSpPr>
          <p:cNvPr id="12" name="TextBox 11">
            <a:extLst>
              <a:ext uri="{FF2B5EF4-FFF2-40B4-BE49-F238E27FC236}">
                <a16:creationId xmlns:a16="http://schemas.microsoft.com/office/drawing/2014/main" id="{0031DCE3-04D1-1F95-638D-F05A3EC6ACBE}"/>
              </a:ext>
            </a:extLst>
          </p:cNvPr>
          <p:cNvSpPr txBox="1"/>
          <p:nvPr/>
        </p:nvSpPr>
        <p:spPr>
          <a:xfrm>
            <a:off x="812800" y="948936"/>
            <a:ext cx="9144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Link:</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9710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500</TotalTime>
  <Words>1660</Words>
  <Application>Microsoft Office PowerPoint</Application>
  <PresentationFormat>Widescreen</PresentationFormat>
  <Paragraphs>211</Paragraphs>
  <Slides>24</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Cambria</vt:lpstr>
      <vt:lpstr>Times New Roman</vt:lpstr>
      <vt:lpstr>Verdana</vt:lpstr>
      <vt:lpstr>Wingdings</vt:lpstr>
      <vt:lpstr>Bioinformatics</vt:lpstr>
      <vt:lpstr>SMART NAVIGATION ASSISTANT FOR PGRKAM PORTAL </vt:lpstr>
      <vt:lpstr>Content</vt:lpstr>
      <vt:lpstr>Problem Statement Number:17 </vt:lpstr>
      <vt:lpstr>Abstract</vt:lpstr>
      <vt:lpstr> Objective</vt:lpstr>
      <vt:lpstr>Literature Survey</vt:lpstr>
      <vt:lpstr>Literature Survey</vt:lpstr>
      <vt:lpstr>Literature Survey</vt:lpstr>
      <vt:lpstr>Existing Methods </vt:lpstr>
      <vt:lpstr>Drawbacks of Existing Methods </vt:lpstr>
      <vt:lpstr>Proposed Methods</vt:lpstr>
      <vt:lpstr>Feasibility Study</vt:lpstr>
      <vt:lpstr>Architecture Diagram</vt:lpstr>
      <vt:lpstr>Module Description</vt:lpstr>
      <vt:lpstr>Module Description</vt:lpstr>
      <vt:lpstr>Software Requirements</vt:lpstr>
      <vt:lpstr>Software Requirements</vt:lpstr>
      <vt:lpstr>Timeline of the Project (Gantt Chart)</vt:lpstr>
      <vt:lpstr>References (IEEE Paper format)</vt:lpstr>
      <vt:lpstr>References (IEEE Paper format)</vt:lpstr>
      <vt:lpstr>Project Output </vt:lpstr>
      <vt:lpstr>Project Output </vt:lpstr>
      <vt:lpstr>Github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balajireddyop@gmail.com</cp:lastModifiedBy>
  <cp:revision>48</cp:revision>
  <dcterms:modified xsi:type="dcterms:W3CDTF">2025-12-02T06:11:42Z</dcterms:modified>
</cp:coreProperties>
</file>